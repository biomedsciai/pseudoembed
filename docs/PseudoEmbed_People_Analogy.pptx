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b96faf8142b4abb" /><Relationship Type="http://schemas.openxmlformats.org/officeDocument/2006/relationships/extended-properties" Target="/docProps/app.xml" Id="R9542c7746e224aef" /><Relationship Type="http://schemas.openxmlformats.org/officeDocument/2006/relationships/officeDocument" Target="/ppt/presentation.xml" Id="Rc28afa31080648dd" /></Relationships>
</file>

<file path=ppt/presentation.xml><?xml version="1.0" encoding="utf-8"?>
<p:presentation xmlns:p="http://schemas.openxmlformats.org/presentationml/2006/main">
  <p:sldMasterIdLst>
    <p:sldMasterId xmlns:r="http://schemas.openxmlformats.org/officeDocument/2006/relationships" id="2147483648" r:id="R72a591cf86074b99"/>
  </p:sldMasterIdLst>
  <p:notesMasterIdLst>
    <p:notesMasterId xmlns:r="http://schemas.openxmlformats.org/officeDocument/2006/relationships" r:id="Rb0e11cb7b475453c"/>
  </p:notesMasterIdLst>
  <p:sldIdLst>
    <p:sldId xmlns:r="http://schemas.openxmlformats.org/officeDocument/2006/relationships" id="256" r:id="R5aa746b99b9142ec"/>
    <p:sldId xmlns:r="http://schemas.openxmlformats.org/officeDocument/2006/relationships" id="257" r:id="R55bf3534920a4d14"/>
    <p:sldId xmlns:r="http://schemas.openxmlformats.org/officeDocument/2006/relationships" id="258" r:id="R0b6fceaaecd74835"/>
    <p:sldId xmlns:r="http://schemas.openxmlformats.org/officeDocument/2006/relationships" id="259" r:id="R8bedc36857aa4972"/>
    <p:sldId xmlns:r="http://schemas.openxmlformats.org/officeDocument/2006/relationships" id="260" r:id="R4033a1627e8d418b"/>
    <p:sldId xmlns:r="http://schemas.openxmlformats.org/officeDocument/2006/relationships" id="261" r:id="Reaef8c471c354e01"/>
    <p:sldId xmlns:r="http://schemas.openxmlformats.org/officeDocument/2006/relationships" id="262" r:id="Rd5b978e641b24bd3"/>
    <p:sldId xmlns:r="http://schemas.openxmlformats.org/officeDocument/2006/relationships" id="263" r:id="Rfecddfabf13444c8"/>
    <p:sldId xmlns:r="http://schemas.openxmlformats.org/officeDocument/2006/relationships" id="264" r:id="R1bfe301eaad144d1"/>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1023bb71554684" /><Relationship Type="http://schemas.openxmlformats.org/officeDocument/2006/relationships/slideMaster" Target="/ppt/slideMasters/slideMaster1.xml" Id="R72a591cf86074b99" /><Relationship Type="http://schemas.openxmlformats.org/officeDocument/2006/relationships/notesMaster" Target="/ppt/notesMasters/notesMaster1.xml" Id="Rb0e11cb7b475453c" /><Relationship Type="http://schemas.openxmlformats.org/officeDocument/2006/relationships/presProps" Target="/ppt/presProps.xml" Id="R89eae65297e04f4d" /><Relationship Type="http://schemas.openxmlformats.org/officeDocument/2006/relationships/tableStyles" Target="/ppt/tableStyles.xml" Id="Ra73067e3f245472c" /><Relationship Type="http://schemas.openxmlformats.org/officeDocument/2006/relationships/slide" Target="/ppt/slides/slide1.xml" Id="R5aa746b99b9142ec" /><Relationship Type="http://schemas.openxmlformats.org/officeDocument/2006/relationships/slide" Target="/ppt/slides/slide2.xml" Id="R55bf3534920a4d14" /><Relationship Type="http://schemas.openxmlformats.org/officeDocument/2006/relationships/slide" Target="/ppt/slides/slide3.xml" Id="R0b6fceaaecd74835" /><Relationship Type="http://schemas.openxmlformats.org/officeDocument/2006/relationships/slide" Target="/ppt/slides/slide4.xml" Id="R8bedc36857aa4972" /><Relationship Type="http://schemas.openxmlformats.org/officeDocument/2006/relationships/slide" Target="/ppt/slides/slide5.xml" Id="R4033a1627e8d418b" /><Relationship Type="http://schemas.openxmlformats.org/officeDocument/2006/relationships/slide" Target="/ppt/slides/slide6.xml" Id="Reaef8c471c354e01" /><Relationship Type="http://schemas.openxmlformats.org/officeDocument/2006/relationships/slide" Target="/ppt/slides/slide7.xml" Id="Rd5b978e641b24bd3" /><Relationship Type="http://schemas.openxmlformats.org/officeDocument/2006/relationships/slide" Target="/ppt/slides/slide8.xml" Id="Rfecddfabf13444c8" /><Relationship Type="http://schemas.openxmlformats.org/officeDocument/2006/relationships/slide" Target="/ppt/slides/slide9.xml" Id="R1bfe301eaad144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5b342f00b544b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895b9340f84ec0" /><Relationship Type="http://schemas.openxmlformats.org/officeDocument/2006/relationships/notesMaster" Target="/ppt/notesMasters/notesMaster1.xml" Id="R721d0ff711744b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9ae495b3e14ae0" /><Relationship Type="http://schemas.openxmlformats.org/officeDocument/2006/relationships/notesMaster" Target="/ppt/notesMasters/notesMaster1.xml" Id="R5c5cd547f1b34c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33aecc1e3943b9" /><Relationship Type="http://schemas.openxmlformats.org/officeDocument/2006/relationships/notesMaster" Target="/ppt/notesMasters/notesMaster1.xml" Id="R9667e67206994a55" /></Relationships>
</file>

<file path=ppt/notesSlides/_rels/notesSlide4.xml.rels>&#65279;<?xml version="1.0" encoding="utf-8"?><Relationships xmlns="http://schemas.openxmlformats.org/package/2006/relationships"><Relationship Type="http://schemas.openxmlformats.org/officeDocument/2006/relationships/slide" Target="/ppt/slides/slide4.xml" Id="R932954d44080437b" /><Relationship Type="http://schemas.openxmlformats.org/officeDocument/2006/relationships/notesMaster" Target="/ppt/notesMasters/notesMaster1.xml" Id="R278e528d9ef44b5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229af20fffb442b" /><Relationship Type="http://schemas.openxmlformats.org/officeDocument/2006/relationships/notesMaster" Target="/ppt/notesMasters/notesMaster1.xml" Id="Rc63a6208fe604e3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783eee5a71a4836" /><Relationship Type="http://schemas.openxmlformats.org/officeDocument/2006/relationships/notesMaster" Target="/ppt/notesMasters/notesMaster1.xml" Id="R48f57b83149741bd" /></Relationships>
</file>

<file path=ppt/notesSlides/_rels/notesSlide7.xml.rels>&#65279;<?xml version="1.0" encoding="utf-8"?><Relationships xmlns="http://schemas.openxmlformats.org/package/2006/relationships"><Relationship Type="http://schemas.openxmlformats.org/officeDocument/2006/relationships/slide" Target="/ppt/slides/slide7.xml" Id="R2db5d644a8594b37" /><Relationship Type="http://schemas.openxmlformats.org/officeDocument/2006/relationships/notesMaster" Target="/ppt/notesMasters/notesMaster1.xml" Id="R1baa7780e750430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3e725b8a2f44144" /><Relationship Type="http://schemas.openxmlformats.org/officeDocument/2006/relationships/notesMaster" Target="/ppt/notesMasters/notesMaster1.xml" Id="Rc7f9c4bdc32640a2" /></Relationships>
</file>

<file path=ppt/notesSlides/_rels/notesSlide9.xml.rels>&#65279;<?xml version="1.0" encoding="utf-8"?><Relationships xmlns="http://schemas.openxmlformats.org/package/2006/relationships"><Relationship Type="http://schemas.openxmlformats.org/officeDocument/2006/relationships/slide" Target="/ppt/slides/slide9.xml" Id="Rea99c2eac96346b2" /><Relationship Type="http://schemas.openxmlformats.org/officeDocument/2006/relationships/notesMaster" Target="/ppt/notesMasters/notesMaster1.xml" Id="Ref24e75042294d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analogy starts from cross-sectional observations: different individuals, not repeated pictures of one person. Infants suggest an early state, but stem cells can already be heterogeneous. The developmental ordering is specific to the biological process under study, not a universal ranking of people or cells.</a:t>
            </a:r>
          </a:p>
          <a:p xmlns:a="http://schemas.openxmlformats.org/drawingml/2006/main">
            <a:r>
              <a:t/>
            </a:r>
          </a:p>
          <a:p xmlns:a="http://schemas.openxmlformats.org/drawingml/2006/main">
            <a:r>
              <a:t>Illustrations are conceptual cartoons, not experimental data.</a:t>
            </a:r>
          </a:p>
          <a:p xmlns:a="http://schemas.openxmlformats.org/drawingml/2006/main">
            <a:r>
              <a:t>Method sources:</a:t>
            </a:r>
          </a:p>
          <a:p xmlns:a="http://schemas.openxmlformats.org/drawingml/2006/main">
            <a:r>
              <a:t>https://github.com/BiomedSciAI/PseudoEmbed/blob/main/README.md</a:t>
            </a:r>
          </a:p>
          <a:p xmlns:a="http://schemas.openxmlformats.org/drawingml/2006/main">
            <a:r>
              <a:t>https://github.com/BiomedSciAI/PseudoEmbed/blob/main/pseudoembed/core/views.py</a:t>
            </a:r>
          </a:p>
          <a:p xmlns:a="http://schemas.openxmlformats.org/drawingml/2006/main">
            <a:r>
              <a:t>https://github.com/BiomedSciAI/PseudoEmbed/blob/main/examples/richard2018_tcell_tutorial.ipynb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academic and athletic examples are intuitive analogues for inferred activities, not literal biological equivalences. CollecTRI TF scores and PROGENy pathway scores use prior gene networks and decoupler ULM. All these views ultimately derive from the same RNA measurements, unlike truly independent human test modalities. Physical traits, including eye color, are not universally useful developmental signals. No trait or ability is linked to ethnicity or sex.</a:t>
            </a:r>
          </a:p>
          <a:p xmlns:a="http://schemas.openxmlformats.org/drawingml/2006/main">
            <a:r>
              <a:t/>
            </a:r>
          </a:p>
          <a:p xmlns:a="http://schemas.openxmlformats.org/drawingml/2006/main">
            <a:r>
              <a:t>Illustrations are conceptual cartoons, not experimental data.</a:t>
            </a:r>
          </a:p>
          <a:p xmlns:a="http://schemas.openxmlformats.org/drawingml/2006/main">
            <a:r>
              <a:t>Method sources:</a:t>
            </a:r>
          </a:p>
          <a:p xmlns:a="http://schemas.openxmlformats.org/drawingml/2006/main">
            <a:r>
              <a:t>https://github.com/BiomedSciAI/PseudoEmbed/blob/main/README.md</a:t>
            </a:r>
          </a:p>
          <a:p xmlns:a="http://schemas.openxmlformats.org/drawingml/2006/main">
            <a:r>
              <a:t>https://github.com/BiomedSciAI/PseudoEmbed/blob/main/pseudoembed/core/views.py</a:t>
            </a:r>
          </a:p>
          <a:p xmlns:a="http://schemas.openxmlformats.org/drawingml/2006/main">
            <a:r>
              <a:t>https://github.com/BiomedSciAI/PseudoEmbed/blob/main/examples/richard2018_tcell_tutorial.ipynb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colored groupings in the illustration are conceptual. Actual gene hyperedges select cells above an expression threshold after candidate and size filtering. TF edges group cells with activity of a regulon, and pathway edges group cells within an activity bin. A single pathway can define several hyperedges. A group need not correspond to a mutually exclusive cell type.</a:t>
            </a:r>
          </a:p>
          <a:p xmlns:a="http://schemas.openxmlformats.org/drawingml/2006/main">
            <a:r>
              <a:t/>
            </a:r>
          </a:p>
          <a:p xmlns:a="http://schemas.openxmlformats.org/drawingml/2006/main">
            <a:r>
              <a:t>Illustrations are conceptual cartoons, not experimental data.</a:t>
            </a:r>
          </a:p>
          <a:p xmlns:a="http://schemas.openxmlformats.org/drawingml/2006/main">
            <a:r>
              <a:t>Method sources:</a:t>
            </a:r>
          </a:p>
          <a:p xmlns:a="http://schemas.openxmlformats.org/drawingml/2006/main">
            <a:r>
              <a:t>https://github.com/BiomedSciAI/PseudoEmbed/blob/main/README.md</a:t>
            </a:r>
          </a:p>
          <a:p xmlns:a="http://schemas.openxmlformats.org/drawingml/2006/main">
            <a:r>
              <a:t>https://github.com/BiomedSciAI/PseudoEmbed/blob/main/pseudoembed/core/views.py</a:t>
            </a:r>
          </a:p>
          <a:p xmlns:a="http://schemas.openxmlformats.org/drawingml/2006/main">
            <a:r>
              <a:t>https://github.com/BiomedSciAI/PseudoEmbed/blob/main/examples/richard2018_tcell_tutorial.ipynb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Operator fusion averages normalized per-view operators using specified view weights. Edge fusion instead combines edges before normalization and can produce different geometry. Hyperedge-size and cell-degree normalization influence connections. More views do not automatically improve a result. The current tutorial uses TF, pathway, and gene-expression views, not a foundation-model embedding. The illustration is not a measured graph or literal computation.</a:t>
            </a:r>
          </a:p>
          <a:p xmlns:a="http://schemas.openxmlformats.org/drawingml/2006/main">
            <a:r>
              <a:t/>
            </a:r>
          </a:p>
          <a:p xmlns:a="http://schemas.openxmlformats.org/drawingml/2006/main">
            <a:r>
              <a:t>Illustrations are conceptual cartoons, not experimental data.</a:t>
            </a:r>
          </a:p>
          <a:p xmlns:a="http://schemas.openxmlformats.org/drawingml/2006/main">
            <a:r>
              <a:t>Method sources:</a:t>
            </a:r>
          </a:p>
          <a:p xmlns:a="http://schemas.openxmlformats.org/drawingml/2006/main">
            <a:r>
              <a:t>https://github.com/BiomedSciAI/PseudoEmbed/blob/main/README.md</a:t>
            </a:r>
          </a:p>
          <a:p xmlns:a="http://schemas.openxmlformats.org/drawingml/2006/main">
            <a:r>
              <a:t>https://github.com/BiomedSciAI/PseudoEmbed/blob/main/pseudoembed/core/views.py</a:t>
            </a:r>
          </a:p>
          <a:p xmlns:a="http://schemas.openxmlformats.org/drawingml/2006/main">
            <a:r>
              <a:t>https://github.com/BiomedSciAI/PseudoEmbed/blob/main/examples/richard2018_tcell_tutorial.ipynb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winding park path is a metaphor for geodesic distance through a kNN graph in the spectral embedding. A spectral embedding represents connectivity patterns, not a pretrained foundation-model representation. Pseudotime is typically normalized to [0,1], without units of hours or years. It does not measure intelligence, worth, or general maturity. Root selection can use a marker panel or earliest sampling time. Current code also uses time labels during fitting; this is not an entirely time-blind ordering. Different people at positions on the path are not proven ancestors or descendants.</a:t>
            </a:r>
          </a:p>
          <a:p xmlns:a="http://schemas.openxmlformats.org/drawingml/2006/main">
            <a:r>
              <a:t/>
            </a:r>
          </a:p>
          <a:p xmlns:a="http://schemas.openxmlformats.org/drawingml/2006/main">
            <a:r>
              <a:t>Illustrations are conceptual cartoons, not experimental data.</a:t>
            </a:r>
          </a:p>
          <a:p xmlns:a="http://schemas.openxmlformats.org/drawingml/2006/main">
            <a:r>
              <a:t>Method sources:</a:t>
            </a:r>
          </a:p>
          <a:p xmlns:a="http://schemas.openxmlformats.org/drawingml/2006/main">
            <a:r>
              <a:t>https://github.com/BiomedSciAI/PseudoEmbed/blob/main/README.md</a:t>
            </a:r>
          </a:p>
          <a:p xmlns:a="http://schemas.openxmlformats.org/drawingml/2006/main">
            <a:r>
              <a:t>https://github.com/BiomedSciAI/PseudoEmbed/blob/main/pseudoembed/core/views.py</a:t>
            </a:r>
          </a:p>
          <a:p xmlns:a="http://schemas.openxmlformats.org/drawingml/2006/main">
            <a:r>
              <a:t>https://github.com/BiomedSciAI/PseudoEmbed/blob/main/examples/richard2018_tcell_tutorial.ipynb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Career paths are a metaphor for branching differentiation across a population. Different individuals specialize into different functions; a person does not physically split. Doctors and engineers illustrate differentiated cell types, not ranked outcomes. Shared math performance illustrates a programme that can occur on several branches and need not uniquely specify cell type. Hyperedges can span branches. A scalar root-distance pseudotime cannot by itself identify branch membership, reconstruct ancestry, or predict fate. The cartoon does not claim that PseudoEmbed automatically assigns lineages. Careers are influenced by social opportunity and choice, so this is an analogy rather than a literal biological model.</a:t>
            </a:r>
          </a:p>
          <a:p xmlns:a="http://schemas.openxmlformats.org/drawingml/2006/main">
            <a:r>
              <a:t/>
            </a:r>
          </a:p>
          <a:p xmlns:a="http://schemas.openxmlformats.org/drawingml/2006/main">
            <a:r>
              <a:t>Illustrations are conceptual cartoons, not experimental data.</a:t>
            </a:r>
          </a:p>
          <a:p xmlns:a="http://schemas.openxmlformats.org/drawingml/2006/main">
            <a:r>
              <a:t>Method sources:</a:t>
            </a:r>
          </a:p>
          <a:p xmlns:a="http://schemas.openxmlformats.org/drawingml/2006/main">
            <a:r>
              <a:t>https://github.com/BiomedSciAI/PseudoEmbed/blob/main/README.md</a:t>
            </a:r>
          </a:p>
          <a:p xmlns:a="http://schemas.openxmlformats.org/drawingml/2006/main">
            <a:r>
              <a:t>https://github.com/BiomedSciAI/PseudoEmbed/blob/main/pseudoembed/core/views.py</a:t>
            </a:r>
          </a:p>
          <a:p xmlns:a="http://schemas.openxmlformats.org/drawingml/2006/main">
            <a:r>
              <a:t>https://github.com/BiomedSciAI/PseudoEmbed/blob/main/examples/richard2018_tcell_tutorial.ipynb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Contribution is nonnegative and sign-blind. Direction requires an oriented signed projection; per-member means help compare different edge sizes. Edge onset is average member-cell position, not the moment the trait first appears. Contribution describes axis alignment and is not proof of a causal driver. Exact quadratic-form decomposition refers to the operator supplied to the attribution routine, not automatically to the entire fused, temporally biased, geodesic pipeline. The art is schematic and carries no numerical result.</a:t>
            </a:r>
          </a:p>
          <a:p xmlns:a="http://schemas.openxmlformats.org/drawingml/2006/main">
            <a:r>
              <a:t/>
            </a:r>
          </a:p>
          <a:p xmlns:a="http://schemas.openxmlformats.org/drawingml/2006/main">
            <a:r>
              <a:t>Illustrations are conceptual cartoons, not experimental data.</a:t>
            </a:r>
          </a:p>
          <a:p xmlns:a="http://schemas.openxmlformats.org/drawingml/2006/main">
            <a:r>
              <a:t>Method sources:</a:t>
            </a:r>
          </a:p>
          <a:p xmlns:a="http://schemas.openxmlformats.org/drawingml/2006/main">
            <a:r>
              <a:t>https://github.com/BiomedSciAI/PseudoEmbed/blob/main/README.md</a:t>
            </a:r>
          </a:p>
          <a:p xmlns:a="http://schemas.openxmlformats.org/drawingml/2006/main">
            <a:r>
              <a:t>https://github.com/BiomedSciAI/PseudoEmbed/blob/main/pseudoembed/core/views.py</a:t>
            </a:r>
          </a:p>
          <a:p xmlns:a="http://schemas.openxmlformats.org/drawingml/2006/main">
            <a:r>
              <a:t>https://github.com/BiomedSciAI/PseudoEmbed/blob/main/examples/richard2018_tcell_tutorial.ipynb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Richard tutorial uses held-out surface-protein measurements as biological validation. They are a held-out modality, not an independent cohort. Sampling time and condition are confounded in that dataset, so an effect of stimulation cannot be separated from elapsed time. Explore root, view, edge-size, and candidate-pool sensitivity. Biological differentiation may branch; career paths illustrate branching, but root distance alone does not identify branch membership or fate. The README documents a missing spectral degree back-transform, which limits interpretation of current pseudotime. The sensor/clipboard illustration is a metaphor, not a real validation assay.</a:t>
            </a:r>
          </a:p>
          <a:p xmlns:a="http://schemas.openxmlformats.org/drawingml/2006/main">
            <a:r>
              <a:t/>
            </a:r>
          </a:p>
          <a:p xmlns:a="http://schemas.openxmlformats.org/drawingml/2006/main">
            <a:r>
              <a:t>Illustrations are conceptual cartoons, not experimental data.</a:t>
            </a:r>
          </a:p>
          <a:p xmlns:a="http://schemas.openxmlformats.org/drawingml/2006/main">
            <a:r>
              <a:t>Method sources:</a:t>
            </a:r>
          </a:p>
          <a:p xmlns:a="http://schemas.openxmlformats.org/drawingml/2006/main">
            <a:r>
              <a:t>https://github.com/BiomedSciAI/PseudoEmbed/blob/main/README.md</a:t>
            </a:r>
          </a:p>
          <a:p xmlns:a="http://schemas.openxmlformats.org/drawingml/2006/main">
            <a:r>
              <a:t>https://github.com/BiomedSciAI/PseudoEmbed/blob/main/pseudoembed/core/views.py</a:t>
            </a:r>
          </a:p>
          <a:p xmlns:a="http://schemas.openxmlformats.org/drawingml/2006/main">
            <a:r>
              <a:t>https://github.com/BiomedSciAI/PseudoEmbed/blob/main/examples/richard2018_tcell_tutorial.ipynb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analogy translates: people = cells; measurements = gene expression; inferred abilities = inferred TF/pathway activity; overlapping named groups = hyperedges; shared map = fused operator and spectral embedding; relative position = pseudotime. The optional PCA view groups cells by expression-space neighborhoods. No foundation-model cell embedding is used in the reviewed tutorial. Condition-specific gene attribution is an optional extension requiring valid contrast and donor structure. Biological root populations can be heterogeneous, and lineage branching can require additional analysis. Do not claim universal superiority over DPT or causal validation. Career is a metaphor for specialized function. Population trajectories branch as different individuals take different routes. Root distance is a scalar and cannot by itself distinguish two branches at similar distance.</a:t>
            </a:r>
          </a:p>
          <a:p xmlns:a="http://schemas.openxmlformats.org/drawingml/2006/main">
            <a:r>
              <a:t/>
            </a:r>
          </a:p>
          <a:p xmlns:a="http://schemas.openxmlformats.org/drawingml/2006/main">
            <a:r>
              <a:t>Illustrations are conceptual cartoons, not experimental data.</a:t>
            </a:r>
          </a:p>
          <a:p xmlns:a="http://schemas.openxmlformats.org/drawingml/2006/main">
            <a:r>
              <a:t>Method sources:</a:t>
            </a:r>
          </a:p>
          <a:p xmlns:a="http://schemas.openxmlformats.org/drawingml/2006/main">
            <a:r>
              <a:t>https://github.com/BiomedSciAI/PseudoEmbed/blob/main/README.md</a:t>
            </a:r>
          </a:p>
          <a:p xmlns:a="http://schemas.openxmlformats.org/drawingml/2006/main">
            <a:r>
              <a:t>https://github.com/BiomedSciAI/PseudoEmbed/blob/main/pseudoembed/core/views.py</a:t>
            </a:r>
          </a:p>
          <a:p xmlns:a="http://schemas.openxmlformats.org/drawingml/2006/main">
            <a:r>
              <a:t>https://github.com/BiomedSciAI/PseudoEmbed/blob/main/examples/richard2018_tcell_tutorial.ipynb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471596f3c0d416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39e4c3aea7d4cb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3cf4aee1ed4483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6a2f2bf837b4a1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c0ce0274936473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2daa18a90a94e6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60847B2-5C43-4B6B-BFAB-525CE2678649}"/>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8D371BA-F773-4AB8-8DAD-2C685B17CE91}"/>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A0CA66A-35F1-4E52-BA78-CD5963C75EC5}"/>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D989D1-D9C4-4F87-A6D1-F9926FC5A031}"/>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3764E21-51C7-4B0A-86CF-D02F742AE954}"/>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9550852-F7BE-481B-9702-14F34C2864D3}"/>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1F8D3CF-2F2A-432C-B1A6-4E45D0DA6603}"/>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427E3B3-87CE-4120-A702-52C9A4868875}"/>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BE9C50-02B8-4B2C-9EB6-4B0B008FA7DB}"/>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442BBE5-229E-40F4-A770-35760C958120}"/>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9de56f802414a87" /><Relationship Type="http://schemas.openxmlformats.org/officeDocument/2006/relationships/slideLayout" Target="/ppt/slideLayouts/slideLayout1.xml" Id="R953b3af31a474734" /><Relationship Type="http://schemas.openxmlformats.org/officeDocument/2006/relationships/slideLayout" Target="/ppt/slideLayouts/slideLayout2.xml" Id="R497f4e78512846b9" /><Relationship Type="http://schemas.openxmlformats.org/officeDocument/2006/relationships/slideLayout" Target="/ppt/slideLayouts/slideLayout3.xml" Id="R05b5b5fc3c44460b" /><Relationship Type="http://schemas.openxmlformats.org/officeDocument/2006/relationships/slideLayout" Target="/ppt/slideLayouts/slideLayout4.xml" Id="Rd32539af0e9244a2" /><Relationship Type="http://schemas.openxmlformats.org/officeDocument/2006/relationships/slideLayout" Target="/ppt/slideLayouts/slideLayout5.xml" Id="Rf6d6f043f07e4b74" /><Relationship Type="http://schemas.openxmlformats.org/officeDocument/2006/relationships/slideLayout" Target="/ppt/slideLayouts/slideLayout6.xml" Id="R340168f316de415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3b3af31a474734"/>
    <p:sldLayoutId xmlns:r="http://schemas.openxmlformats.org/officeDocument/2006/relationships" id="2147483650" r:id="R497f4e78512846b9"/>
    <p:sldLayoutId xmlns:r="http://schemas.openxmlformats.org/officeDocument/2006/relationships" id="2147483651" r:id="R05b5b5fc3c44460b"/>
    <p:sldLayoutId xmlns:r="http://schemas.openxmlformats.org/officeDocument/2006/relationships" id="2147483652" r:id="Rd32539af0e9244a2"/>
    <p:sldLayoutId xmlns:r="http://schemas.openxmlformats.org/officeDocument/2006/relationships" id="2147483653" r:id="Rf6d6f043f07e4b74"/>
    <p:sldLayoutId xmlns:r="http://schemas.openxmlformats.org/officeDocument/2006/relationships" id="2147483654" r:id="R340168f316de415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8a9b346a24248bb" /><Relationship Type="http://schemas.openxmlformats.org/officeDocument/2006/relationships/image" Target="/ppt/media/image.png" Id="R52765f075238463d" /><Relationship Type="http://schemas.openxmlformats.org/officeDocument/2006/relationships/notesSlide" Target="/ppt/notesSlides/notesSlide1.xml" Id="Rf42c1f846c0e4d6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594190e95204fdc" /><Relationship Type="http://schemas.openxmlformats.org/officeDocument/2006/relationships/image" Target="/ppt/media/image2.png" Id="Rda4ff58415f24568" /><Relationship Type="http://schemas.openxmlformats.org/officeDocument/2006/relationships/notesSlide" Target="/ppt/notesSlides/notesSlide2.xml" Id="R248f7fd36e554b3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9580f3b4596437d" /><Relationship Type="http://schemas.openxmlformats.org/officeDocument/2006/relationships/image" Target="/ppt/media/image3.png" Id="R5cbeaa53f0db496d" /><Relationship Type="http://schemas.openxmlformats.org/officeDocument/2006/relationships/notesSlide" Target="/ppt/notesSlides/notesSlide3.xml" Id="R4b0b6a7176f3468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3039bc903fc45ae" /><Relationship Type="http://schemas.openxmlformats.org/officeDocument/2006/relationships/image" Target="/ppt/media/image4.png" Id="R75b74ba1ebb54aaf" /><Relationship Type="http://schemas.openxmlformats.org/officeDocument/2006/relationships/notesSlide" Target="/ppt/notesSlides/notesSlide4.xml" Id="Re8133b3d5cae4d6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4983731e6a145f6" /><Relationship Type="http://schemas.openxmlformats.org/officeDocument/2006/relationships/image" Target="/ppt/media/image5.png" Id="R81e51e45e3854605" /><Relationship Type="http://schemas.openxmlformats.org/officeDocument/2006/relationships/notesSlide" Target="/ppt/notesSlides/notesSlide5.xml" Id="Reb8396bc57454fe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e6fd44644a248ea" /><Relationship Type="http://schemas.openxmlformats.org/officeDocument/2006/relationships/image" Target="/ppt/media/image6.png" Id="R0778805916f6421f" /><Relationship Type="http://schemas.openxmlformats.org/officeDocument/2006/relationships/notesSlide" Target="/ppt/notesSlides/notesSlide6.xml" Id="R2bd18bcd83fa42d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b97cf9605f74b77" /><Relationship Type="http://schemas.openxmlformats.org/officeDocument/2006/relationships/image" Target="/ppt/media/image7.png" Id="Rd03ebb84e5e44e0f" /><Relationship Type="http://schemas.openxmlformats.org/officeDocument/2006/relationships/notesSlide" Target="/ppt/notesSlides/notesSlide7.xml" Id="Rc3a58caff84a4b7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ffeabfc923a4229" /><Relationship Type="http://schemas.openxmlformats.org/officeDocument/2006/relationships/image" Target="/ppt/media/image8.png" Id="R88e3a52d523e494c" /><Relationship Type="http://schemas.openxmlformats.org/officeDocument/2006/relationships/notesSlide" Target="/ppt/notesSlides/notesSlide8.xml" Id="R8eda30c2612d487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ebf8e71d0064457" /><Relationship Type="http://schemas.openxmlformats.org/officeDocument/2006/relationships/image" Target="/ppt/media/image9.png" Id="Rff015940ba1d4fa8" /><Relationship Type="http://schemas.openxmlformats.org/officeDocument/2006/relationships/notesSlide" Target="/ppt/notesSlides/notesSlide9.xml" Id="R07e4b0eef0a542d0" /></Relationships>
</file>

<file path=ppt/slides/slide1.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FF5BAAE-D4F4-4E85-A954-505049E5C771}"/>
              </a:ext>
            </a:extLst>
          </p:cNvPr>
          <p:cNvSpPr>
            <a:spLocks xmlns:a="http://schemas.openxmlformats.org/drawingml/2006/main" noGrp="1"/>
          </p:cNvSpPr>
          <p:nvPr/>
        </p:nvSpPr>
        <p:spPr>
          <a:xfrm xmlns:a="http://schemas.openxmlformats.org/drawingml/2006/main">
            <a:off x="514350" y="333375"/>
            <a:ext cx="14192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675" b="1">
                <a:solidFill>
                  <a:srgbClr val="17384A"/>
                </a:solidFill>
                <a:latin typeface="DejaVu Sans"/>
                <a:ea typeface="DejaVu Sans"/>
                <a:cs typeface="DejaVu Sans"/>
              </a:defRPr>
            </a:defPPr>
          </a:lstStyle>
          <a:p xmlns:a="http://schemas.openxmlformats.org/drawingml/2006/main">
            <a:pPr>
              <a:defRPr sz="3675" b="1">
                <a:solidFill>
                  <a:srgbClr val="17384A"/>
                </a:solidFill>
                <a:latin typeface="DejaVu Sans"/>
                <a:ea typeface="DejaVu Sans"/>
                <a:cs typeface="DejaVu Sans"/>
              </a:defRPr>
            </a:pPr>
            <a:r>
              <a:rPr sz="3675" b="1">
                <a:solidFill>
                  <a:srgbClr val="17384A"/>
                </a:solidFill>
                <a:latin typeface="DejaVu Sans"/>
                <a:ea typeface="DejaVu Sans"/>
                <a:cs typeface="DejaVu Sans"/>
              </a:rPr>
              <a:t>If every cell were a person…</a:t>
            </a:r>
          </a:p>
        </p:txBody>
      </p:sp>
      <p:sp>
        <p:nvSpPr>
          <p:cNvPr id="2" name="">
            <a:extLst xmlns:a="http://schemas.openxmlformats.org/drawingml/2006/main">
              <a:ext uri="{FF2B5EF4-FFF2-40B4-BE49-F238E27FC236}">
                <a16:creationId xmlns:a16="http://schemas.microsoft.com/office/drawing/2014/main" id="{5ADE26B6-27DE-475C-94EC-A40805E4A65F}"/>
              </a:ext>
            </a:extLst>
          </p:cNvPr>
          <p:cNvSpPr>
            <a:spLocks xmlns:a="http://schemas.openxmlformats.org/drawingml/2006/main" noGrp="1"/>
          </p:cNvSpPr>
          <p:nvPr/>
        </p:nvSpPr>
        <p:spPr>
          <a:xfrm xmlns:a="http://schemas.openxmlformats.org/drawingml/2006/main">
            <a:off x="542925" y="1123950"/>
            <a:ext cx="1400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576773"/>
                </a:solidFill>
                <a:latin typeface="DejaVu Sans"/>
                <a:ea typeface="DejaVu Sans"/>
                <a:cs typeface="DejaVu Sans"/>
              </a:defRPr>
            </a:defPPr>
          </a:lstStyle>
          <a:p xmlns:a="http://schemas.openxmlformats.org/drawingml/2006/main">
            <a:pPr>
              <a:defRPr sz="2025" b="0">
                <a:solidFill>
                  <a:srgbClr val="576773"/>
                </a:solidFill>
                <a:latin typeface="DejaVu Sans"/>
                <a:ea typeface="DejaVu Sans"/>
                <a:cs typeface="DejaVu Sans"/>
              </a:defRPr>
            </a:pPr>
            <a:r>
              <a:rPr sz="2025" b="0">
                <a:solidFill>
                  <a:srgbClr val="576773"/>
                </a:solidFill>
                <a:latin typeface="DejaVu Sans"/>
                <a:ea typeface="DejaVu Sans"/>
                <a:cs typeface="DejaVu Sans"/>
              </a:rPr>
              <a:t>A visual story about PseudoEmbed</a:t>
            </a:r>
          </a:p>
        </p:txBody>
      </p:sp>
      <p:pic>
        <p:nvPicPr>
          <p:cNvPr id="3" name="">
            <a:extLst xmlns:a="http://schemas.openxmlformats.org/drawingml/2006/main">
              <a:ext uri="{FF2B5EF4-FFF2-40B4-BE49-F238E27FC236}">
                <a16:creationId xmlns:a16="http://schemas.microsoft.com/office/drawing/2014/main" id="{5D0FA749-F62A-4AC2-86F2-57B63E835BB7}"/>
              </a:ext>
            </a:extLst>
          </p:cNvPr>
          <p:cNvPicPr>
            <a:picLocks xmlns:a="http://schemas.openxmlformats.org/drawingml/2006/main" noChangeAspect="1"/>
          </p:cNvPicPr>
          <p:nvPr/>
        </p:nvPicPr>
        <p:blipFill>
          <a:blip xmlns:r="http://schemas.openxmlformats.org/officeDocument/2006/relationships" xmlns:a="http://schemas.openxmlformats.org/drawingml/2006/main" r:embed="R52765f075238463d"/>
          <a:stretch xmlns:a="http://schemas.openxmlformats.org/drawingml/2006/main"/>
        </p:blipFill>
        <p:spPr>
          <a:xfrm xmlns:a="http://schemas.openxmlformats.org/drawingml/2006/main">
            <a:off x="564356" y="1828800"/>
            <a:ext cx="8643938" cy="5762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2B1EC3B-498F-4856-8C32-D04F0C5474FE}"/>
              </a:ext>
            </a:extLst>
          </p:cNvPr>
          <p:cNvSpPr>
            <a:spLocks xmlns:a="http://schemas.openxmlformats.org/drawingml/2006/main" noGrp="1"/>
          </p:cNvSpPr>
          <p:nvPr/>
        </p:nvSpPr>
        <p:spPr>
          <a:xfrm xmlns:a="http://schemas.openxmlformats.org/drawingml/2006/main">
            <a:off x="9906000" y="2209800"/>
            <a:ext cx="4810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87C85"/>
                </a:solidFill>
                <a:latin typeface="DejaVu Sans"/>
                <a:ea typeface="DejaVu Sans"/>
                <a:cs typeface="DejaVu Sans"/>
              </a:defRPr>
            </a:defPPr>
          </a:lstStyle>
          <a:p xmlns:a="http://schemas.openxmlformats.org/drawingml/2006/main">
            <a:pPr>
              <a:defRPr sz="2325" b="1">
                <a:solidFill>
                  <a:srgbClr val="087C85"/>
                </a:solidFill>
                <a:latin typeface="DejaVu Sans"/>
                <a:ea typeface="DejaVu Sans"/>
                <a:cs typeface="DejaVu Sans"/>
              </a:defRPr>
            </a:pPr>
            <a:r>
              <a:rPr sz="2325" b="1">
                <a:solidFill>
                  <a:srgbClr val="087C85"/>
                </a:solidFill>
                <a:latin typeface="DejaVu Sans"/>
                <a:ea typeface="DejaVu Sans"/>
                <a:cs typeface="DejaVu Sans"/>
              </a:rPr>
              <a:t>A snapshot</a:t>
            </a:r>
          </a:p>
        </p:txBody>
      </p:sp>
      <p:sp>
        <p:nvSpPr>
          <p:cNvPr id="5" name="">
            <a:extLst xmlns:a="http://schemas.openxmlformats.org/drawingml/2006/main">
              <a:ext uri="{FF2B5EF4-FFF2-40B4-BE49-F238E27FC236}">
                <a16:creationId xmlns:a16="http://schemas.microsoft.com/office/drawing/2014/main" id="{ABBB48EE-74ED-4F26-822F-AC5B74B066C7}"/>
              </a:ext>
            </a:extLst>
          </p:cNvPr>
          <p:cNvSpPr>
            <a:spLocks xmlns:a="http://schemas.openxmlformats.org/drawingml/2006/main" noGrp="1"/>
          </p:cNvSpPr>
          <p:nvPr/>
        </p:nvSpPr>
        <p:spPr>
          <a:xfrm xmlns:a="http://schemas.openxmlformats.org/drawingml/2006/main">
            <a:off x="9906000" y="2724150"/>
            <a:ext cx="4762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84A"/>
                </a:solidFill>
                <a:latin typeface="DejaVu Sans"/>
                <a:ea typeface="DejaVu Sans"/>
                <a:cs typeface="DejaVu Sans"/>
              </a:defRPr>
            </a:defPPr>
          </a:lstStyle>
          <a:p xmlns:a="http://schemas.openxmlformats.org/drawingml/2006/main">
            <a:pPr>
              <a:defRPr sz="2100" b="0">
                <a:solidFill>
                  <a:srgbClr val="17384A"/>
                </a:solidFill>
                <a:latin typeface="DejaVu Sans"/>
                <a:ea typeface="DejaVu Sans"/>
                <a:cs typeface="DejaVu Sans"/>
              </a:defRPr>
            </a:pPr>
            <a:r>
              <a:rPr sz="2100" b="0">
                <a:solidFill>
                  <a:srgbClr val="17384A"/>
                </a:solidFill>
                <a:latin typeface="DejaVu Sans"/>
                <a:ea typeface="DejaVu Sans"/>
                <a:cs typeface="DejaVu Sans"/>
              </a:rPr>
              <a:t>We meet different infants, children, teenagers, and adults.</a:t>
            </a:r>
          </a:p>
        </p:txBody>
      </p:sp>
      <p:sp>
        <p:nvSpPr>
          <p:cNvPr id="6" name="">
            <a:extLst xmlns:a="http://schemas.openxmlformats.org/drawingml/2006/main">
              <a:ext uri="{FF2B5EF4-FFF2-40B4-BE49-F238E27FC236}">
                <a16:creationId xmlns:a16="http://schemas.microsoft.com/office/drawing/2014/main" id="{55186E01-B1CB-4FD9-BDE5-89D03E841686}"/>
              </a:ext>
            </a:extLst>
          </p:cNvPr>
          <p:cNvSpPr>
            <a:spLocks xmlns:a="http://schemas.openxmlformats.org/drawingml/2006/main" noGrp="1"/>
          </p:cNvSpPr>
          <p:nvPr/>
        </p:nvSpPr>
        <p:spPr>
          <a:xfrm xmlns:a="http://schemas.openxmlformats.org/drawingml/2006/main">
            <a:off x="9906000" y="4448175"/>
            <a:ext cx="4810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87C85"/>
                </a:solidFill>
                <a:latin typeface="DejaVu Sans"/>
                <a:ea typeface="DejaVu Sans"/>
                <a:cs typeface="DejaVu Sans"/>
              </a:defRPr>
            </a:defPPr>
          </a:lstStyle>
          <a:p xmlns:a="http://schemas.openxmlformats.org/drawingml/2006/main">
            <a:pPr>
              <a:defRPr sz="2325" b="1">
                <a:solidFill>
                  <a:srgbClr val="087C85"/>
                </a:solidFill>
                <a:latin typeface="DejaVu Sans"/>
                <a:ea typeface="DejaVu Sans"/>
                <a:cs typeface="DejaVu Sans"/>
              </a:defRPr>
            </a:pPr>
            <a:r>
              <a:rPr sz="2325" b="1">
                <a:solidFill>
                  <a:srgbClr val="087C85"/>
                </a:solidFill>
                <a:latin typeface="DejaVu Sans"/>
                <a:ea typeface="DejaVu Sans"/>
                <a:cs typeface="DejaVu Sans"/>
              </a:rPr>
              <a:t>The question</a:t>
            </a:r>
          </a:p>
        </p:txBody>
      </p:sp>
      <p:sp>
        <p:nvSpPr>
          <p:cNvPr id="7" name="">
            <a:extLst xmlns:a="http://schemas.openxmlformats.org/drawingml/2006/main">
              <a:ext uri="{FF2B5EF4-FFF2-40B4-BE49-F238E27FC236}">
                <a16:creationId xmlns:a16="http://schemas.microsoft.com/office/drawing/2014/main" id="{B8976156-1B09-4B8A-BD91-75A9194F70E9}"/>
              </a:ext>
            </a:extLst>
          </p:cNvPr>
          <p:cNvSpPr>
            <a:spLocks xmlns:a="http://schemas.openxmlformats.org/drawingml/2006/main" noGrp="1"/>
          </p:cNvSpPr>
          <p:nvPr/>
        </p:nvSpPr>
        <p:spPr>
          <a:xfrm xmlns:a="http://schemas.openxmlformats.org/drawingml/2006/main">
            <a:off x="9906000" y="4962525"/>
            <a:ext cx="4762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84A"/>
                </a:solidFill>
                <a:latin typeface="DejaVu Sans"/>
                <a:ea typeface="DejaVu Sans"/>
                <a:cs typeface="DejaVu Sans"/>
              </a:defRPr>
            </a:defPPr>
          </a:lstStyle>
          <a:p xmlns:a="http://schemas.openxmlformats.org/drawingml/2006/main">
            <a:pPr>
              <a:defRPr sz="2100" b="0">
                <a:solidFill>
                  <a:srgbClr val="17384A"/>
                </a:solidFill>
                <a:latin typeface="DejaVu Sans"/>
                <a:ea typeface="DejaVu Sans"/>
                <a:cs typeface="DejaVu Sans"/>
              </a:defRPr>
            </a:pPr>
            <a:r>
              <a:rPr sz="2100" b="0">
                <a:solidFill>
                  <a:srgbClr val="17384A"/>
                </a:solidFill>
                <a:latin typeface="DejaVu Sans"/>
                <a:ea typeface="DejaVu Sans"/>
                <a:cs typeface="DejaVu Sans"/>
              </a:rPr>
              <a:t>Can their measurements reveal a developmental progression?</a:t>
            </a:r>
          </a:p>
        </p:txBody>
      </p:sp>
      <p:sp>
        <p:nvSpPr>
          <p:cNvPr id="8" name="">
            <a:extLst xmlns:a="http://schemas.openxmlformats.org/drawingml/2006/main">
              <a:ext uri="{FF2B5EF4-FFF2-40B4-BE49-F238E27FC236}">
                <a16:creationId xmlns:a16="http://schemas.microsoft.com/office/drawing/2014/main" id="{B0CD228E-91A0-41BC-939C-F67EE9F1C49F}"/>
              </a:ext>
            </a:extLst>
          </p:cNvPr>
          <p:cNvSpPr>
            <a:spLocks xmlns:a="http://schemas.openxmlformats.org/drawingml/2006/main" noGrp="1"/>
          </p:cNvSpPr>
          <p:nvPr/>
        </p:nvSpPr>
        <p:spPr>
          <a:xfrm xmlns:a="http://schemas.openxmlformats.org/drawingml/2006/main">
            <a:off x="542925" y="769620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1">
                <a:solidFill>
                  <a:srgbClr val="087C85"/>
                </a:solidFill>
                <a:latin typeface="DejaVu Sans"/>
                <a:ea typeface="DejaVu Sans"/>
                <a:cs typeface="DejaVu Sans"/>
              </a:defRPr>
            </a:defPPr>
          </a:lstStyle>
          <a:p xmlns:a="http://schemas.openxmlformats.org/drawingml/2006/main">
            <a:pPr>
              <a:defRPr sz="1500" b="1">
                <a:solidFill>
                  <a:srgbClr val="087C85"/>
                </a:solidFill>
                <a:latin typeface="DejaVu Sans"/>
                <a:ea typeface="DejaVu Sans"/>
                <a:cs typeface="DejaVu Sans"/>
              </a:defRPr>
            </a:pPr>
            <a:r>
              <a:rPr sz="1500" b="1">
                <a:solidFill>
                  <a:srgbClr val="087C85"/>
                </a:solidFill>
                <a:latin typeface="DejaVu Sans"/>
                <a:ea typeface="DejaVu Sans"/>
                <a:cs typeface="DejaVu Sans"/>
              </a:rPr>
              <a:t>IN PSEUDOEMBED</a:t>
            </a:r>
          </a:p>
        </p:txBody>
      </p:sp>
      <p:sp>
        <p:nvSpPr>
          <p:cNvPr id="9" name="">
            <a:extLst xmlns:a="http://schemas.openxmlformats.org/drawingml/2006/main">
              <a:ext uri="{FF2B5EF4-FFF2-40B4-BE49-F238E27FC236}">
                <a16:creationId xmlns:a16="http://schemas.microsoft.com/office/drawing/2014/main" id="{6045E29F-046E-4770-9A57-0DCF75111D9A}"/>
              </a:ext>
            </a:extLst>
          </p:cNvPr>
          <p:cNvSpPr>
            <a:spLocks xmlns:a="http://schemas.openxmlformats.org/drawingml/2006/main" noGrp="1"/>
          </p:cNvSpPr>
          <p:nvPr/>
        </p:nvSpPr>
        <p:spPr>
          <a:xfrm xmlns:a="http://schemas.openxmlformats.org/drawingml/2006/main">
            <a:off x="3352800" y="76771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7384A"/>
                </a:solidFill>
                <a:latin typeface="DejaVu Sans"/>
                <a:ea typeface="DejaVu Sans"/>
                <a:cs typeface="DejaVu Sans"/>
              </a:defRPr>
            </a:defPPr>
          </a:lstStyle>
          <a:p xmlns:a="http://schemas.openxmlformats.org/drawingml/2006/main">
            <a:pPr>
              <a:defRPr sz="1875" b="0">
                <a:solidFill>
                  <a:srgbClr val="17384A"/>
                </a:solidFill>
                <a:latin typeface="DejaVu Sans"/>
                <a:ea typeface="DejaVu Sans"/>
                <a:cs typeface="DejaVu Sans"/>
              </a:defRPr>
            </a:pPr>
            <a:r>
              <a:rPr sz="1875" b="0">
                <a:solidFill>
                  <a:srgbClr val="17384A"/>
                </a:solidFill>
                <a:latin typeface="DejaVu Sans"/>
                <a:ea typeface="DejaVu Sans"/>
                <a:cs typeface="DejaVu Sans"/>
              </a:rPr>
              <a:t>Each person represents one cell. The photographs represent a single-cell dataset.</a:t>
            </a:r>
          </a:p>
        </p:txBody>
      </p:sp>
      <p:sp>
        <p:nvSpPr>
          <p:cNvPr id="10" name="">
            <a:extLst xmlns:a="http://schemas.openxmlformats.org/drawingml/2006/main">
              <a:ext uri="{FF2B5EF4-FFF2-40B4-BE49-F238E27FC236}">
                <a16:creationId xmlns:a16="http://schemas.microsoft.com/office/drawing/2014/main" id="{A6B9D12B-23F7-4B44-A306-BB76B2BBE125}"/>
              </a:ext>
            </a:extLst>
          </p:cNvPr>
          <p:cNvSpPr>
            <a:spLocks xmlns:a="http://schemas.openxmlformats.org/drawingml/2006/main" noGrp="1"/>
          </p:cNvSpPr>
          <p:nvPr/>
        </p:nvSpPr>
        <p:spPr>
          <a:xfrm xmlns:a="http://schemas.openxmlformats.org/drawingml/2006/main">
            <a:off x="14592300" y="808672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576773"/>
                </a:solidFill>
                <a:latin typeface="DejaVu Sans"/>
                <a:ea typeface="DejaVu Sans"/>
                <a:cs typeface="DejaVu Sans"/>
              </a:defRPr>
            </a:defPPr>
          </a:lstStyle>
          <a:p xmlns:a="http://schemas.openxmlformats.org/drawingml/2006/main">
            <a:pPr>
              <a:defRPr sz="1275" b="0">
                <a:solidFill>
                  <a:srgbClr val="576773"/>
                </a:solidFill>
                <a:latin typeface="DejaVu Sans"/>
                <a:ea typeface="DejaVu Sans"/>
                <a:cs typeface="DejaVu Sans"/>
              </a:defRPr>
            </a:pPr>
            <a:r>
              <a:rPr sz="1275" b="0">
                <a:solidFill>
                  <a:srgbClr val="576773"/>
                </a:solidFill>
                <a:latin typeface="DejaVu Sans"/>
                <a:ea typeface="DejaVu Sans"/>
                <a:cs typeface="DejaVu Sans"/>
              </a:rPr>
              <a:t>01</a:t>
            </a:r>
          </a:p>
        </p:txBody>
      </p:sp>
    </p:spTree>
    <p:extLst>
      <p:ext uri="{BB962C8B-B14F-4D97-AF65-F5344CB8AC3E}">
        <p14:creationId xmlns:p14="http://schemas.microsoft.com/office/powerpoint/2010/main" val="2102214876"/>
      </p:ext>
    </p:extLst>
  </p:cSld>
</p:sld>
</file>

<file path=ppt/slides/slide2.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B786D0E-7E53-43F6-9DC5-594358A0566C}"/>
              </a:ext>
            </a:extLst>
          </p:cNvPr>
          <p:cNvSpPr>
            <a:spLocks xmlns:a="http://schemas.openxmlformats.org/drawingml/2006/main" noGrp="1"/>
          </p:cNvSpPr>
          <p:nvPr/>
        </p:nvSpPr>
        <p:spPr>
          <a:xfrm xmlns:a="http://schemas.openxmlformats.org/drawingml/2006/main">
            <a:off x="514350" y="333375"/>
            <a:ext cx="14192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675" b="1">
                <a:solidFill>
                  <a:srgbClr val="17384A"/>
                </a:solidFill>
                <a:latin typeface="DejaVu Sans"/>
                <a:ea typeface="DejaVu Sans"/>
                <a:cs typeface="DejaVu Sans"/>
              </a:defRPr>
            </a:defPPr>
          </a:lstStyle>
          <a:p xmlns:a="http://schemas.openxmlformats.org/drawingml/2006/main">
            <a:pPr>
              <a:defRPr sz="3675" b="1">
                <a:solidFill>
                  <a:srgbClr val="17384A"/>
                </a:solidFill>
                <a:latin typeface="DejaVu Sans"/>
                <a:ea typeface="DejaVu Sans"/>
                <a:cs typeface="DejaVu Sans"/>
              </a:defRPr>
            </a:pPr>
            <a:r>
              <a:rPr sz="3675" b="1">
                <a:solidFill>
                  <a:srgbClr val="17384A"/>
                </a:solidFill>
                <a:latin typeface="DejaVu Sans"/>
                <a:ea typeface="DejaVu Sans"/>
                <a:cs typeface="DejaVu Sans"/>
              </a:rPr>
              <a:t>One person, several views</a:t>
            </a:r>
          </a:p>
        </p:txBody>
      </p:sp>
      <p:sp>
        <p:nvSpPr>
          <p:cNvPr id="2" name="">
            <a:extLst xmlns:a="http://schemas.openxmlformats.org/drawingml/2006/main">
              <a:ext uri="{FF2B5EF4-FFF2-40B4-BE49-F238E27FC236}">
                <a16:creationId xmlns:a16="http://schemas.microsoft.com/office/drawing/2014/main" id="{1C96C77E-DD62-418B-9623-A6CA7A43B963}"/>
              </a:ext>
            </a:extLst>
          </p:cNvPr>
          <p:cNvSpPr>
            <a:spLocks xmlns:a="http://schemas.openxmlformats.org/drawingml/2006/main" noGrp="1"/>
          </p:cNvSpPr>
          <p:nvPr/>
        </p:nvSpPr>
        <p:spPr>
          <a:xfrm xmlns:a="http://schemas.openxmlformats.org/drawingml/2006/main">
            <a:off x="542925" y="1123950"/>
            <a:ext cx="1400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576773"/>
                </a:solidFill>
                <a:latin typeface="DejaVu Sans"/>
                <a:ea typeface="DejaVu Sans"/>
                <a:cs typeface="DejaVu Sans"/>
              </a:defRPr>
            </a:defPPr>
          </a:lstStyle>
          <a:p xmlns:a="http://schemas.openxmlformats.org/drawingml/2006/main">
            <a:pPr>
              <a:defRPr sz="2025" b="0">
                <a:solidFill>
                  <a:srgbClr val="576773"/>
                </a:solidFill>
                <a:latin typeface="DejaVu Sans"/>
                <a:ea typeface="DejaVu Sans"/>
                <a:cs typeface="DejaVu Sans"/>
              </a:defRPr>
            </a:pPr>
            <a:r>
              <a:rPr sz="2025" b="0">
                <a:solidFill>
                  <a:srgbClr val="576773"/>
                </a:solidFill>
                <a:latin typeface="DejaVu Sans"/>
                <a:ea typeface="DejaVu Sans"/>
                <a:cs typeface="DejaVu Sans"/>
              </a:rPr>
              <a:t>Different measurements describe the same individuals</a:t>
            </a:r>
          </a:p>
        </p:txBody>
      </p:sp>
      <p:pic>
        <p:nvPicPr>
          <p:cNvPr id="3" name="">
            <a:extLst xmlns:a="http://schemas.openxmlformats.org/drawingml/2006/main">
              <a:ext uri="{FF2B5EF4-FFF2-40B4-BE49-F238E27FC236}">
                <a16:creationId xmlns:a16="http://schemas.microsoft.com/office/drawing/2014/main" id="{A624C238-179A-44BC-A3DD-6754DD83B3CF}"/>
              </a:ext>
            </a:extLst>
          </p:cNvPr>
          <p:cNvPicPr>
            <a:picLocks xmlns:a="http://schemas.openxmlformats.org/drawingml/2006/main" noChangeAspect="1"/>
          </p:cNvPicPr>
          <p:nvPr/>
        </p:nvPicPr>
        <p:blipFill>
          <a:blip xmlns:r="http://schemas.openxmlformats.org/officeDocument/2006/relationships" xmlns:a="http://schemas.openxmlformats.org/drawingml/2006/main" r:embed="Rda4ff58415f24568"/>
          <a:stretch xmlns:a="http://schemas.openxmlformats.org/drawingml/2006/main"/>
        </p:blipFill>
        <p:spPr>
          <a:xfrm xmlns:a="http://schemas.openxmlformats.org/drawingml/2006/main">
            <a:off x="564356" y="1828800"/>
            <a:ext cx="8643938" cy="5762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25EE574-D957-4612-A50F-10CB7A8F1787}"/>
              </a:ext>
            </a:extLst>
          </p:cNvPr>
          <p:cNvSpPr>
            <a:spLocks xmlns:a="http://schemas.openxmlformats.org/drawingml/2006/main" noGrp="1"/>
          </p:cNvSpPr>
          <p:nvPr/>
        </p:nvSpPr>
        <p:spPr>
          <a:xfrm xmlns:a="http://schemas.openxmlformats.org/drawingml/2006/main">
            <a:off x="9906000" y="2209800"/>
            <a:ext cx="4810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87C85"/>
                </a:solidFill>
                <a:latin typeface="DejaVu Sans"/>
                <a:ea typeface="DejaVu Sans"/>
                <a:cs typeface="DejaVu Sans"/>
              </a:defRPr>
            </a:defPPr>
          </a:lstStyle>
          <a:p xmlns:a="http://schemas.openxmlformats.org/drawingml/2006/main">
            <a:pPr>
              <a:defRPr sz="2325" b="1">
                <a:solidFill>
                  <a:srgbClr val="087C85"/>
                </a:solidFill>
                <a:latin typeface="DejaVu Sans"/>
                <a:ea typeface="DejaVu Sans"/>
                <a:cs typeface="DejaVu Sans"/>
              </a:defRPr>
            </a:pPr>
            <a:r>
              <a:rPr sz="2325" b="1">
                <a:solidFill>
                  <a:srgbClr val="087C85"/>
                </a:solidFill>
                <a:latin typeface="DejaVu Sans"/>
                <a:ea typeface="DejaVu Sans"/>
                <a:cs typeface="DejaVu Sans"/>
              </a:rPr>
              <a:t>Physical traits</a:t>
            </a:r>
          </a:p>
        </p:txBody>
      </p:sp>
      <p:sp>
        <p:nvSpPr>
          <p:cNvPr id="5" name="">
            <a:extLst xmlns:a="http://schemas.openxmlformats.org/drawingml/2006/main">
              <a:ext uri="{FF2B5EF4-FFF2-40B4-BE49-F238E27FC236}">
                <a16:creationId xmlns:a16="http://schemas.microsoft.com/office/drawing/2014/main" id="{BBFAB2FA-4C42-4167-BD7E-A4619CBDE1BC}"/>
              </a:ext>
            </a:extLst>
          </p:cNvPr>
          <p:cNvSpPr>
            <a:spLocks xmlns:a="http://schemas.openxmlformats.org/drawingml/2006/main" noGrp="1"/>
          </p:cNvSpPr>
          <p:nvPr/>
        </p:nvSpPr>
        <p:spPr>
          <a:xfrm xmlns:a="http://schemas.openxmlformats.org/drawingml/2006/main">
            <a:off x="9906000" y="2724150"/>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84A"/>
                </a:solidFill>
                <a:latin typeface="DejaVu Sans"/>
                <a:ea typeface="DejaVu Sans"/>
                <a:cs typeface="DejaVu Sans"/>
              </a:defRPr>
            </a:defPPr>
          </a:lstStyle>
          <a:p xmlns:a="http://schemas.openxmlformats.org/drawingml/2006/main">
            <a:pPr>
              <a:defRPr sz="2100" b="0">
                <a:solidFill>
                  <a:srgbClr val="17384A"/>
                </a:solidFill>
                <a:latin typeface="DejaVu Sans"/>
                <a:ea typeface="DejaVu Sans"/>
                <a:cs typeface="DejaVu Sans"/>
              </a:defRPr>
            </a:pPr>
            <a:r>
              <a:rPr sz="2100" b="0">
                <a:solidFill>
                  <a:srgbClr val="17384A"/>
                </a:solidFill>
                <a:latin typeface="DejaVu Sans"/>
                <a:ea typeface="DejaVu Sans"/>
                <a:cs typeface="DejaVu Sans"/>
              </a:rPr>
              <a:t>Height or body proportions are direct measurements.</a:t>
            </a:r>
          </a:p>
        </p:txBody>
      </p:sp>
      <p:sp>
        <p:nvSpPr>
          <p:cNvPr id="6" name="">
            <a:extLst xmlns:a="http://schemas.openxmlformats.org/drawingml/2006/main">
              <a:ext uri="{FF2B5EF4-FFF2-40B4-BE49-F238E27FC236}">
                <a16:creationId xmlns:a16="http://schemas.microsoft.com/office/drawing/2014/main" id="{D873D247-D09C-4982-B317-1CC3A2A5D1F0}"/>
              </a:ext>
            </a:extLst>
          </p:cNvPr>
          <p:cNvSpPr>
            <a:spLocks xmlns:a="http://schemas.openxmlformats.org/drawingml/2006/main" noGrp="1"/>
          </p:cNvSpPr>
          <p:nvPr/>
        </p:nvSpPr>
        <p:spPr>
          <a:xfrm xmlns:a="http://schemas.openxmlformats.org/drawingml/2006/main">
            <a:off x="9906000" y="3876675"/>
            <a:ext cx="4810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87C85"/>
                </a:solidFill>
                <a:latin typeface="DejaVu Sans"/>
                <a:ea typeface="DejaVu Sans"/>
                <a:cs typeface="DejaVu Sans"/>
              </a:defRPr>
            </a:defPPr>
          </a:lstStyle>
          <a:p xmlns:a="http://schemas.openxmlformats.org/drawingml/2006/main">
            <a:pPr>
              <a:defRPr sz="2325" b="1">
                <a:solidFill>
                  <a:srgbClr val="087C85"/>
                </a:solidFill>
                <a:latin typeface="DejaVu Sans"/>
                <a:ea typeface="DejaVu Sans"/>
                <a:cs typeface="DejaVu Sans"/>
              </a:defRPr>
            </a:pPr>
            <a:r>
              <a:rPr sz="2325" b="1">
                <a:solidFill>
                  <a:srgbClr val="087C85"/>
                </a:solidFill>
                <a:latin typeface="DejaVu Sans"/>
                <a:ea typeface="DejaVu Sans"/>
                <a:cs typeface="DejaVu Sans"/>
              </a:rPr>
              <a:t>Academic ability</a:t>
            </a:r>
          </a:p>
        </p:txBody>
      </p:sp>
      <p:sp>
        <p:nvSpPr>
          <p:cNvPr id="7" name="">
            <a:extLst xmlns:a="http://schemas.openxmlformats.org/drawingml/2006/main">
              <a:ext uri="{FF2B5EF4-FFF2-40B4-BE49-F238E27FC236}">
                <a16:creationId xmlns:a16="http://schemas.microsoft.com/office/drawing/2014/main" id="{294BF6EC-BF35-44C0-80E6-24FBD86CD4A4}"/>
              </a:ext>
            </a:extLst>
          </p:cNvPr>
          <p:cNvSpPr>
            <a:spLocks xmlns:a="http://schemas.openxmlformats.org/drawingml/2006/main" noGrp="1"/>
          </p:cNvSpPr>
          <p:nvPr/>
        </p:nvSpPr>
        <p:spPr>
          <a:xfrm xmlns:a="http://schemas.openxmlformats.org/drawingml/2006/main">
            <a:off x="9906000" y="4391025"/>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84A"/>
                </a:solidFill>
                <a:latin typeface="DejaVu Sans"/>
                <a:ea typeface="DejaVu Sans"/>
                <a:cs typeface="DejaVu Sans"/>
              </a:defRPr>
            </a:defPPr>
          </a:lstStyle>
          <a:p xmlns:a="http://schemas.openxmlformats.org/drawingml/2006/main">
            <a:pPr>
              <a:defRPr sz="2100" b="0">
                <a:solidFill>
                  <a:srgbClr val="17384A"/>
                </a:solidFill>
                <a:latin typeface="DejaVu Sans"/>
                <a:ea typeface="DejaVu Sans"/>
                <a:cs typeface="DejaVu Sans"/>
              </a:defRPr>
            </a:pPr>
            <a:r>
              <a:rPr sz="2100" b="0">
                <a:solidFill>
                  <a:srgbClr val="17384A"/>
                </a:solidFill>
                <a:latin typeface="DejaVu Sans"/>
                <a:ea typeface="DejaVu Sans"/>
                <a:cs typeface="DejaVu Sans"/>
              </a:rPr>
              <a:t>Reasoning ability is inferred from performance across tasks.</a:t>
            </a:r>
          </a:p>
        </p:txBody>
      </p:sp>
      <p:sp>
        <p:nvSpPr>
          <p:cNvPr id="8" name="">
            <a:extLst xmlns:a="http://schemas.openxmlformats.org/drawingml/2006/main">
              <a:ext uri="{FF2B5EF4-FFF2-40B4-BE49-F238E27FC236}">
                <a16:creationId xmlns:a16="http://schemas.microsoft.com/office/drawing/2014/main" id="{2755BA93-DBBC-4862-B741-1FFC027E172B}"/>
              </a:ext>
            </a:extLst>
          </p:cNvPr>
          <p:cNvSpPr>
            <a:spLocks xmlns:a="http://schemas.openxmlformats.org/drawingml/2006/main" noGrp="1"/>
          </p:cNvSpPr>
          <p:nvPr/>
        </p:nvSpPr>
        <p:spPr>
          <a:xfrm xmlns:a="http://schemas.openxmlformats.org/drawingml/2006/main">
            <a:off x="9906000" y="5543550"/>
            <a:ext cx="4810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87C85"/>
                </a:solidFill>
                <a:latin typeface="DejaVu Sans"/>
                <a:ea typeface="DejaVu Sans"/>
                <a:cs typeface="DejaVu Sans"/>
              </a:defRPr>
            </a:defPPr>
          </a:lstStyle>
          <a:p xmlns:a="http://schemas.openxmlformats.org/drawingml/2006/main">
            <a:pPr>
              <a:defRPr sz="2325" b="1">
                <a:solidFill>
                  <a:srgbClr val="087C85"/>
                </a:solidFill>
                <a:latin typeface="DejaVu Sans"/>
                <a:ea typeface="DejaVu Sans"/>
                <a:cs typeface="DejaVu Sans"/>
              </a:defRPr>
            </a:pPr>
            <a:r>
              <a:rPr sz="2325" b="1">
                <a:solidFill>
                  <a:srgbClr val="087C85"/>
                </a:solidFill>
                <a:latin typeface="DejaVu Sans"/>
                <a:ea typeface="DejaVu Sans"/>
                <a:cs typeface="DejaVu Sans"/>
              </a:rPr>
              <a:t>Athletic ability</a:t>
            </a:r>
          </a:p>
        </p:txBody>
      </p:sp>
      <p:sp>
        <p:nvSpPr>
          <p:cNvPr id="9" name="">
            <a:extLst xmlns:a="http://schemas.openxmlformats.org/drawingml/2006/main">
              <a:ext uri="{FF2B5EF4-FFF2-40B4-BE49-F238E27FC236}">
                <a16:creationId xmlns:a16="http://schemas.microsoft.com/office/drawing/2014/main" id="{E7FAF915-CBDE-4997-A0D4-C8D62D5A465A}"/>
              </a:ext>
            </a:extLst>
          </p:cNvPr>
          <p:cNvSpPr>
            <a:spLocks xmlns:a="http://schemas.openxmlformats.org/drawingml/2006/main" noGrp="1"/>
          </p:cNvSpPr>
          <p:nvPr/>
        </p:nvSpPr>
        <p:spPr>
          <a:xfrm xmlns:a="http://schemas.openxmlformats.org/drawingml/2006/main">
            <a:off x="9906000" y="6057900"/>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84A"/>
                </a:solidFill>
                <a:latin typeface="DejaVu Sans"/>
                <a:ea typeface="DejaVu Sans"/>
                <a:cs typeface="DejaVu Sans"/>
              </a:defRPr>
            </a:defPPr>
          </a:lstStyle>
          <a:p xmlns:a="http://schemas.openxmlformats.org/drawingml/2006/main">
            <a:pPr>
              <a:defRPr sz="2100" b="0">
                <a:solidFill>
                  <a:srgbClr val="17384A"/>
                </a:solidFill>
                <a:latin typeface="DejaVu Sans"/>
                <a:ea typeface="DejaVu Sans"/>
                <a:cs typeface="DejaVu Sans"/>
              </a:defRPr>
            </a:pPr>
            <a:r>
              <a:rPr sz="2100" b="0">
                <a:solidFill>
                  <a:srgbClr val="17384A"/>
                </a:solidFill>
                <a:latin typeface="DejaVu Sans"/>
                <a:ea typeface="DejaVu Sans"/>
                <a:cs typeface="DejaVu Sans"/>
              </a:rPr>
              <a:t>Endurance and coordination describe another pattern.</a:t>
            </a:r>
          </a:p>
        </p:txBody>
      </p:sp>
      <p:sp>
        <p:nvSpPr>
          <p:cNvPr id="10" name="">
            <a:extLst xmlns:a="http://schemas.openxmlformats.org/drawingml/2006/main">
              <a:ext uri="{FF2B5EF4-FFF2-40B4-BE49-F238E27FC236}">
                <a16:creationId xmlns:a16="http://schemas.microsoft.com/office/drawing/2014/main" id="{7669DFEA-AEC9-48F5-B8AC-EDBBED35EC69}"/>
              </a:ext>
            </a:extLst>
          </p:cNvPr>
          <p:cNvSpPr>
            <a:spLocks xmlns:a="http://schemas.openxmlformats.org/drawingml/2006/main" noGrp="1"/>
          </p:cNvSpPr>
          <p:nvPr/>
        </p:nvSpPr>
        <p:spPr>
          <a:xfrm xmlns:a="http://schemas.openxmlformats.org/drawingml/2006/main">
            <a:off x="542925" y="769620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1">
                <a:solidFill>
                  <a:srgbClr val="087C85"/>
                </a:solidFill>
                <a:latin typeface="DejaVu Sans"/>
                <a:ea typeface="DejaVu Sans"/>
                <a:cs typeface="DejaVu Sans"/>
              </a:defRPr>
            </a:defPPr>
          </a:lstStyle>
          <a:p xmlns:a="http://schemas.openxmlformats.org/drawingml/2006/main">
            <a:pPr>
              <a:defRPr sz="1500" b="1">
                <a:solidFill>
                  <a:srgbClr val="087C85"/>
                </a:solidFill>
                <a:latin typeface="DejaVu Sans"/>
                <a:ea typeface="DejaVu Sans"/>
                <a:cs typeface="DejaVu Sans"/>
              </a:defRPr>
            </a:pPr>
            <a:r>
              <a:rPr sz="1500" b="1">
                <a:solidFill>
                  <a:srgbClr val="087C85"/>
                </a:solidFill>
                <a:latin typeface="DejaVu Sans"/>
                <a:ea typeface="DejaVu Sans"/>
                <a:cs typeface="DejaVu Sans"/>
              </a:rPr>
              <a:t>IN PSEUDOEMBED</a:t>
            </a:r>
          </a:p>
        </p:txBody>
      </p:sp>
      <p:sp>
        <p:nvSpPr>
          <p:cNvPr id="11" name="">
            <a:extLst xmlns:a="http://schemas.openxmlformats.org/drawingml/2006/main">
              <a:ext uri="{FF2B5EF4-FFF2-40B4-BE49-F238E27FC236}">
                <a16:creationId xmlns:a16="http://schemas.microsoft.com/office/drawing/2014/main" id="{4EABB6D6-BE1B-4BD5-98C4-76685A148F00}"/>
              </a:ext>
            </a:extLst>
          </p:cNvPr>
          <p:cNvSpPr>
            <a:spLocks xmlns:a="http://schemas.openxmlformats.org/drawingml/2006/main" noGrp="1"/>
          </p:cNvSpPr>
          <p:nvPr/>
        </p:nvSpPr>
        <p:spPr>
          <a:xfrm xmlns:a="http://schemas.openxmlformats.org/drawingml/2006/main">
            <a:off x="3352800" y="76771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7384A"/>
                </a:solidFill>
                <a:latin typeface="DejaVu Sans"/>
                <a:ea typeface="DejaVu Sans"/>
                <a:cs typeface="DejaVu Sans"/>
              </a:defRPr>
            </a:defPPr>
          </a:lstStyle>
          <a:p xmlns:a="http://schemas.openxmlformats.org/drawingml/2006/main">
            <a:pPr>
              <a:defRPr sz="1875" b="0">
                <a:solidFill>
                  <a:srgbClr val="17384A"/>
                </a:solidFill>
                <a:latin typeface="DejaVu Sans"/>
                <a:ea typeface="DejaVu Sans"/>
                <a:cs typeface="DejaVu Sans"/>
              </a:defRPr>
            </a:pPr>
            <a:r>
              <a:rPr sz="1875" b="0">
                <a:solidFill>
                  <a:srgbClr val="17384A"/>
                </a:solidFill>
                <a:latin typeface="DejaVu Sans"/>
                <a:ea typeface="DejaVu Sans"/>
                <a:cs typeface="DejaVu Sans"/>
              </a:rPr>
              <a:t>Gene expression is measured. TF and pathway activity are inferred from patterns across genes.</a:t>
            </a:r>
          </a:p>
        </p:txBody>
      </p:sp>
      <p:sp>
        <p:nvSpPr>
          <p:cNvPr id="12" name="">
            <a:extLst xmlns:a="http://schemas.openxmlformats.org/drawingml/2006/main">
              <a:ext uri="{FF2B5EF4-FFF2-40B4-BE49-F238E27FC236}">
                <a16:creationId xmlns:a16="http://schemas.microsoft.com/office/drawing/2014/main" id="{3B73BF22-EC4C-40FA-8C33-D29D9019111B}"/>
              </a:ext>
            </a:extLst>
          </p:cNvPr>
          <p:cNvSpPr>
            <a:spLocks xmlns:a="http://schemas.openxmlformats.org/drawingml/2006/main" noGrp="1"/>
          </p:cNvSpPr>
          <p:nvPr/>
        </p:nvSpPr>
        <p:spPr>
          <a:xfrm xmlns:a="http://schemas.openxmlformats.org/drawingml/2006/main">
            <a:off x="14592300" y="808672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576773"/>
                </a:solidFill>
                <a:latin typeface="DejaVu Sans"/>
                <a:ea typeface="DejaVu Sans"/>
                <a:cs typeface="DejaVu Sans"/>
              </a:defRPr>
            </a:defPPr>
          </a:lstStyle>
          <a:p xmlns:a="http://schemas.openxmlformats.org/drawingml/2006/main">
            <a:pPr>
              <a:defRPr sz="1275" b="0">
                <a:solidFill>
                  <a:srgbClr val="576773"/>
                </a:solidFill>
                <a:latin typeface="DejaVu Sans"/>
                <a:ea typeface="DejaVu Sans"/>
                <a:cs typeface="DejaVu Sans"/>
              </a:defRPr>
            </a:pPr>
            <a:r>
              <a:rPr sz="1275" b="0">
                <a:solidFill>
                  <a:srgbClr val="576773"/>
                </a:solidFill>
                <a:latin typeface="DejaVu Sans"/>
                <a:ea typeface="DejaVu Sans"/>
                <a:cs typeface="DejaVu Sans"/>
              </a:rPr>
              <a:t>02</a:t>
            </a:r>
          </a:p>
        </p:txBody>
      </p:sp>
    </p:spTree>
    <p:extLst>
      <p:ext uri="{BB962C8B-B14F-4D97-AF65-F5344CB8AC3E}">
        <p14:creationId xmlns:p14="http://schemas.microsoft.com/office/powerpoint/2010/main" val="1265586423"/>
      </p:ext>
    </p:extLst>
  </p:cSld>
</p:sld>
</file>

<file path=ppt/slides/slide3.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C481FD0-33BB-4665-AB00-F30E7F63ECB4}"/>
              </a:ext>
            </a:extLst>
          </p:cNvPr>
          <p:cNvSpPr>
            <a:spLocks xmlns:a="http://schemas.openxmlformats.org/drawingml/2006/main" noGrp="1"/>
          </p:cNvSpPr>
          <p:nvPr/>
        </p:nvSpPr>
        <p:spPr>
          <a:xfrm xmlns:a="http://schemas.openxmlformats.org/drawingml/2006/main">
            <a:off x="514350" y="333375"/>
            <a:ext cx="14192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675" b="1">
                <a:solidFill>
                  <a:srgbClr val="17384A"/>
                </a:solidFill>
                <a:latin typeface="DejaVu Sans"/>
                <a:ea typeface="DejaVu Sans"/>
                <a:cs typeface="DejaVu Sans"/>
              </a:defRPr>
            </a:defPPr>
          </a:lstStyle>
          <a:p xmlns:a="http://schemas.openxmlformats.org/drawingml/2006/main">
            <a:pPr>
              <a:defRPr sz="3675" b="1">
                <a:solidFill>
                  <a:srgbClr val="17384A"/>
                </a:solidFill>
                <a:latin typeface="DejaVu Sans"/>
                <a:ea typeface="DejaVu Sans"/>
                <a:cs typeface="DejaVu Sans"/>
              </a:defRPr>
            </a:pPr>
            <a:r>
              <a:rPr sz="3675" b="1">
                <a:solidFill>
                  <a:srgbClr val="17384A"/>
                </a:solidFill>
                <a:latin typeface="DejaVu Sans"/>
                <a:ea typeface="DejaVu Sans"/>
                <a:cs typeface="DejaVu Sans"/>
              </a:rPr>
              <a:t>Groups can overlap</a:t>
            </a:r>
          </a:p>
        </p:txBody>
      </p:sp>
      <p:sp>
        <p:nvSpPr>
          <p:cNvPr id="2" name="">
            <a:extLst xmlns:a="http://schemas.openxmlformats.org/drawingml/2006/main">
              <a:ext uri="{FF2B5EF4-FFF2-40B4-BE49-F238E27FC236}">
                <a16:creationId xmlns:a16="http://schemas.microsoft.com/office/drawing/2014/main" id="{333E1721-E849-4F15-BB09-0DD0433E0B2B}"/>
              </a:ext>
            </a:extLst>
          </p:cNvPr>
          <p:cNvSpPr>
            <a:spLocks xmlns:a="http://schemas.openxmlformats.org/drawingml/2006/main" noGrp="1"/>
          </p:cNvSpPr>
          <p:nvPr/>
        </p:nvSpPr>
        <p:spPr>
          <a:xfrm xmlns:a="http://schemas.openxmlformats.org/drawingml/2006/main">
            <a:off x="542925" y="1123950"/>
            <a:ext cx="1400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576773"/>
                </a:solidFill>
                <a:latin typeface="DejaVu Sans"/>
                <a:ea typeface="DejaVu Sans"/>
                <a:cs typeface="DejaVu Sans"/>
              </a:defRPr>
            </a:defPPr>
          </a:lstStyle>
          <a:p xmlns:a="http://schemas.openxmlformats.org/drawingml/2006/main">
            <a:pPr>
              <a:defRPr sz="2025" b="0">
                <a:solidFill>
                  <a:srgbClr val="576773"/>
                </a:solidFill>
                <a:latin typeface="DejaVu Sans"/>
                <a:ea typeface="DejaVu Sans"/>
                <a:cs typeface="DejaVu Sans"/>
              </a:defRPr>
            </a:pPr>
            <a:r>
              <a:rPr sz="2025" b="0">
                <a:solidFill>
                  <a:srgbClr val="576773"/>
                </a:solidFill>
                <a:latin typeface="DejaVu Sans"/>
                <a:ea typeface="DejaVu Sans"/>
                <a:cs typeface="DejaVu Sans"/>
              </a:rPr>
              <a:t>One named group connects many people at once</a:t>
            </a:r>
          </a:p>
        </p:txBody>
      </p:sp>
      <p:pic>
        <p:nvPicPr>
          <p:cNvPr id="3" name="">
            <a:extLst xmlns:a="http://schemas.openxmlformats.org/drawingml/2006/main">
              <a:ext uri="{FF2B5EF4-FFF2-40B4-BE49-F238E27FC236}">
                <a16:creationId xmlns:a16="http://schemas.microsoft.com/office/drawing/2014/main" id="{F78D7C6D-8D6D-41AA-B6B2-7367B118B2D7}"/>
              </a:ext>
            </a:extLst>
          </p:cNvPr>
          <p:cNvPicPr>
            <a:picLocks xmlns:a="http://schemas.openxmlformats.org/drawingml/2006/main" noChangeAspect="1"/>
          </p:cNvPicPr>
          <p:nvPr/>
        </p:nvPicPr>
        <p:blipFill>
          <a:blip xmlns:r="http://schemas.openxmlformats.org/officeDocument/2006/relationships" xmlns:a="http://schemas.openxmlformats.org/drawingml/2006/main" r:embed="R5cbeaa53f0db496d"/>
          <a:stretch xmlns:a="http://schemas.openxmlformats.org/drawingml/2006/main"/>
        </p:blipFill>
        <p:spPr>
          <a:xfrm xmlns:a="http://schemas.openxmlformats.org/drawingml/2006/main">
            <a:off x="564356" y="1828800"/>
            <a:ext cx="8643938" cy="5762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8FF42A7-492D-455A-B320-F2E979A81F3D}"/>
              </a:ext>
            </a:extLst>
          </p:cNvPr>
          <p:cNvSpPr>
            <a:spLocks xmlns:a="http://schemas.openxmlformats.org/drawingml/2006/main" noGrp="1"/>
          </p:cNvSpPr>
          <p:nvPr/>
        </p:nvSpPr>
        <p:spPr>
          <a:xfrm xmlns:a="http://schemas.openxmlformats.org/drawingml/2006/main">
            <a:off x="9906000" y="2209800"/>
            <a:ext cx="4810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87C85"/>
                </a:solidFill>
                <a:latin typeface="DejaVu Sans"/>
                <a:ea typeface="DejaVu Sans"/>
                <a:cs typeface="DejaVu Sans"/>
              </a:defRPr>
            </a:defPPr>
          </a:lstStyle>
          <a:p xmlns:a="http://schemas.openxmlformats.org/drawingml/2006/main">
            <a:pPr>
              <a:defRPr sz="2325" b="1">
                <a:solidFill>
                  <a:srgbClr val="087C85"/>
                </a:solidFill>
                <a:latin typeface="DejaVu Sans"/>
                <a:ea typeface="DejaVu Sans"/>
                <a:cs typeface="DejaVu Sans"/>
              </a:defRPr>
            </a:pPr>
            <a:r>
              <a:rPr sz="2325" b="1">
                <a:solidFill>
                  <a:srgbClr val="087C85"/>
                </a:solidFill>
                <a:latin typeface="DejaVu Sans"/>
                <a:ea typeface="DejaVu Sans"/>
                <a:cs typeface="DejaVu Sans"/>
              </a:rPr>
              <a:t>A named group</a:t>
            </a:r>
          </a:p>
        </p:txBody>
      </p:sp>
      <p:sp>
        <p:nvSpPr>
          <p:cNvPr id="5" name="">
            <a:extLst xmlns:a="http://schemas.openxmlformats.org/drawingml/2006/main">
              <a:ext uri="{FF2B5EF4-FFF2-40B4-BE49-F238E27FC236}">
                <a16:creationId xmlns:a16="http://schemas.microsoft.com/office/drawing/2014/main" id="{83AF44A8-E8EF-4E0C-8746-384CF3352337}"/>
              </a:ext>
            </a:extLst>
          </p:cNvPr>
          <p:cNvSpPr>
            <a:spLocks xmlns:a="http://schemas.openxmlformats.org/drawingml/2006/main" noGrp="1"/>
          </p:cNvSpPr>
          <p:nvPr/>
        </p:nvSpPr>
        <p:spPr>
          <a:xfrm xmlns:a="http://schemas.openxmlformats.org/drawingml/2006/main">
            <a:off x="9906000" y="2724150"/>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84A"/>
                </a:solidFill>
                <a:latin typeface="DejaVu Sans"/>
                <a:ea typeface="DejaVu Sans"/>
                <a:cs typeface="DejaVu Sans"/>
              </a:defRPr>
            </a:defPPr>
          </a:lstStyle>
          <a:p xmlns:a="http://schemas.openxmlformats.org/drawingml/2006/main">
            <a:pPr>
              <a:defRPr sz="2100" b="0">
                <a:solidFill>
                  <a:srgbClr val="17384A"/>
                </a:solidFill>
                <a:latin typeface="DejaVu Sans"/>
                <a:ea typeface="DejaVu Sans"/>
                <a:cs typeface="DejaVu Sans"/>
              </a:defRPr>
            </a:pPr>
            <a:r>
              <a:rPr sz="2100" b="0">
                <a:solidFill>
                  <a:srgbClr val="17384A"/>
                </a:solidFill>
                <a:latin typeface="DejaVu Sans"/>
                <a:ea typeface="DejaVu Sans"/>
                <a:cs typeface="DejaVu Sans"/>
              </a:rPr>
              <a:t>“Strong at math” can include several people of different ages.</a:t>
            </a:r>
          </a:p>
        </p:txBody>
      </p:sp>
      <p:sp>
        <p:nvSpPr>
          <p:cNvPr id="6" name="">
            <a:extLst xmlns:a="http://schemas.openxmlformats.org/drawingml/2006/main">
              <a:ext uri="{FF2B5EF4-FFF2-40B4-BE49-F238E27FC236}">
                <a16:creationId xmlns:a16="http://schemas.microsoft.com/office/drawing/2014/main" id="{6DA425DF-02A6-48D0-8235-CE7F03FC8EE5}"/>
              </a:ext>
            </a:extLst>
          </p:cNvPr>
          <p:cNvSpPr>
            <a:spLocks xmlns:a="http://schemas.openxmlformats.org/drawingml/2006/main" noGrp="1"/>
          </p:cNvSpPr>
          <p:nvPr/>
        </p:nvSpPr>
        <p:spPr>
          <a:xfrm xmlns:a="http://schemas.openxmlformats.org/drawingml/2006/main">
            <a:off x="9906000" y="3876675"/>
            <a:ext cx="4810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87C85"/>
                </a:solidFill>
                <a:latin typeface="DejaVu Sans"/>
                <a:ea typeface="DejaVu Sans"/>
                <a:cs typeface="DejaVu Sans"/>
              </a:defRPr>
            </a:defPPr>
          </a:lstStyle>
          <a:p xmlns:a="http://schemas.openxmlformats.org/drawingml/2006/main">
            <a:pPr>
              <a:defRPr sz="2325" b="1">
                <a:solidFill>
                  <a:srgbClr val="087C85"/>
                </a:solidFill>
                <a:latin typeface="DejaVu Sans"/>
                <a:ea typeface="DejaVu Sans"/>
                <a:cs typeface="DejaVu Sans"/>
              </a:defRPr>
            </a:pPr>
            <a:r>
              <a:rPr sz="2325" b="1">
                <a:solidFill>
                  <a:srgbClr val="087C85"/>
                </a:solidFill>
                <a:latin typeface="DejaVu Sans"/>
                <a:ea typeface="DejaVu Sans"/>
                <a:cs typeface="DejaVu Sans"/>
              </a:rPr>
              <a:t>Shared memberships</a:t>
            </a:r>
          </a:p>
        </p:txBody>
      </p:sp>
      <p:sp>
        <p:nvSpPr>
          <p:cNvPr id="7" name="">
            <a:extLst xmlns:a="http://schemas.openxmlformats.org/drawingml/2006/main">
              <a:ext uri="{FF2B5EF4-FFF2-40B4-BE49-F238E27FC236}">
                <a16:creationId xmlns:a16="http://schemas.microsoft.com/office/drawing/2014/main" id="{8C57324A-ADF6-4567-9C71-1B452ADAD383}"/>
              </a:ext>
            </a:extLst>
          </p:cNvPr>
          <p:cNvSpPr>
            <a:spLocks xmlns:a="http://schemas.openxmlformats.org/drawingml/2006/main" noGrp="1"/>
          </p:cNvSpPr>
          <p:nvPr/>
        </p:nvSpPr>
        <p:spPr>
          <a:xfrm xmlns:a="http://schemas.openxmlformats.org/drawingml/2006/main">
            <a:off x="9906000" y="4391025"/>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84A"/>
                </a:solidFill>
                <a:latin typeface="DejaVu Sans"/>
                <a:ea typeface="DejaVu Sans"/>
                <a:cs typeface="DejaVu Sans"/>
              </a:defRPr>
            </a:defPPr>
          </a:lstStyle>
          <a:p xmlns:a="http://schemas.openxmlformats.org/drawingml/2006/main">
            <a:pPr>
              <a:defRPr sz="2100" b="0">
                <a:solidFill>
                  <a:srgbClr val="17384A"/>
                </a:solidFill>
                <a:latin typeface="DejaVu Sans"/>
                <a:ea typeface="DejaVu Sans"/>
                <a:cs typeface="DejaVu Sans"/>
              </a:defRPr>
            </a:pPr>
            <a:r>
              <a:rPr sz="2100" b="0">
                <a:solidFill>
                  <a:srgbClr val="17384A"/>
                </a:solidFill>
                <a:latin typeface="DejaVu Sans"/>
                <a:ea typeface="DejaVu Sans"/>
                <a:cs typeface="DejaVu Sans"/>
              </a:rPr>
              <a:t>Someone can also belong to “strong endurance” and a height group.</a:t>
            </a:r>
          </a:p>
        </p:txBody>
      </p:sp>
      <p:sp>
        <p:nvSpPr>
          <p:cNvPr id="8" name="">
            <a:extLst xmlns:a="http://schemas.openxmlformats.org/drawingml/2006/main">
              <a:ext uri="{FF2B5EF4-FFF2-40B4-BE49-F238E27FC236}">
                <a16:creationId xmlns:a16="http://schemas.microsoft.com/office/drawing/2014/main" id="{098252DB-9A02-4D03-8742-1184FF132D09}"/>
              </a:ext>
            </a:extLst>
          </p:cNvPr>
          <p:cNvSpPr>
            <a:spLocks xmlns:a="http://schemas.openxmlformats.org/drawingml/2006/main" noGrp="1"/>
          </p:cNvSpPr>
          <p:nvPr/>
        </p:nvSpPr>
        <p:spPr>
          <a:xfrm xmlns:a="http://schemas.openxmlformats.org/drawingml/2006/main">
            <a:off x="9906000" y="5543550"/>
            <a:ext cx="4810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87C85"/>
                </a:solidFill>
                <a:latin typeface="DejaVu Sans"/>
                <a:ea typeface="DejaVu Sans"/>
                <a:cs typeface="DejaVu Sans"/>
              </a:defRPr>
            </a:defPPr>
          </a:lstStyle>
          <a:p xmlns:a="http://schemas.openxmlformats.org/drawingml/2006/main">
            <a:pPr>
              <a:defRPr sz="2325" b="1">
                <a:solidFill>
                  <a:srgbClr val="087C85"/>
                </a:solidFill>
                <a:latin typeface="DejaVu Sans"/>
                <a:ea typeface="DejaVu Sans"/>
                <a:cs typeface="DejaVu Sans"/>
              </a:defRPr>
            </a:pPr>
            <a:r>
              <a:rPr sz="2325" b="1">
                <a:solidFill>
                  <a:srgbClr val="087C85"/>
                </a:solidFill>
                <a:latin typeface="DejaVu Sans"/>
                <a:ea typeface="DejaVu Sans"/>
                <a:cs typeface="DejaVu Sans"/>
              </a:rPr>
              <a:t>A hyperedge</a:t>
            </a:r>
          </a:p>
        </p:txBody>
      </p:sp>
      <p:sp>
        <p:nvSpPr>
          <p:cNvPr id="9" name="">
            <a:extLst xmlns:a="http://schemas.openxmlformats.org/drawingml/2006/main">
              <a:ext uri="{FF2B5EF4-FFF2-40B4-BE49-F238E27FC236}">
                <a16:creationId xmlns:a16="http://schemas.microsoft.com/office/drawing/2014/main" id="{67148BBD-6178-4C7A-8400-B299FDB48B87}"/>
              </a:ext>
            </a:extLst>
          </p:cNvPr>
          <p:cNvSpPr>
            <a:spLocks xmlns:a="http://schemas.openxmlformats.org/drawingml/2006/main" noGrp="1"/>
          </p:cNvSpPr>
          <p:nvPr/>
        </p:nvSpPr>
        <p:spPr>
          <a:xfrm xmlns:a="http://schemas.openxmlformats.org/drawingml/2006/main">
            <a:off x="9906000" y="6057900"/>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84A"/>
                </a:solidFill>
                <a:latin typeface="DejaVu Sans"/>
                <a:ea typeface="DejaVu Sans"/>
                <a:cs typeface="DejaVu Sans"/>
              </a:defRPr>
            </a:defPPr>
          </a:lstStyle>
          <a:p xmlns:a="http://schemas.openxmlformats.org/drawingml/2006/main">
            <a:pPr>
              <a:defRPr sz="2100" b="0">
                <a:solidFill>
                  <a:srgbClr val="17384A"/>
                </a:solidFill>
                <a:latin typeface="DejaVu Sans"/>
                <a:ea typeface="DejaVu Sans"/>
                <a:cs typeface="DejaVu Sans"/>
              </a:defRPr>
            </a:pPr>
            <a:r>
              <a:rPr sz="2100" b="0">
                <a:solidFill>
                  <a:srgbClr val="17384A"/>
                </a:solidFill>
                <a:latin typeface="DejaVu Sans"/>
                <a:ea typeface="DejaVu Sans"/>
                <a:cs typeface="DejaVu Sans"/>
              </a:rPr>
              <a:t>The whole group is one connection, rather than a set of pairs.</a:t>
            </a:r>
          </a:p>
        </p:txBody>
      </p:sp>
      <p:sp>
        <p:nvSpPr>
          <p:cNvPr id="10" name="">
            <a:extLst xmlns:a="http://schemas.openxmlformats.org/drawingml/2006/main">
              <a:ext uri="{FF2B5EF4-FFF2-40B4-BE49-F238E27FC236}">
                <a16:creationId xmlns:a16="http://schemas.microsoft.com/office/drawing/2014/main" id="{C58597F8-82AB-45FD-B200-D801EEC1F24D}"/>
              </a:ext>
            </a:extLst>
          </p:cNvPr>
          <p:cNvSpPr>
            <a:spLocks xmlns:a="http://schemas.openxmlformats.org/drawingml/2006/main" noGrp="1"/>
          </p:cNvSpPr>
          <p:nvPr/>
        </p:nvSpPr>
        <p:spPr>
          <a:xfrm xmlns:a="http://schemas.openxmlformats.org/drawingml/2006/main">
            <a:off x="542925" y="769620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1">
                <a:solidFill>
                  <a:srgbClr val="087C85"/>
                </a:solidFill>
                <a:latin typeface="DejaVu Sans"/>
                <a:ea typeface="DejaVu Sans"/>
                <a:cs typeface="DejaVu Sans"/>
              </a:defRPr>
            </a:defPPr>
          </a:lstStyle>
          <a:p xmlns:a="http://schemas.openxmlformats.org/drawingml/2006/main">
            <a:pPr>
              <a:defRPr sz="1500" b="1">
                <a:solidFill>
                  <a:srgbClr val="087C85"/>
                </a:solidFill>
                <a:latin typeface="DejaVu Sans"/>
                <a:ea typeface="DejaVu Sans"/>
                <a:cs typeface="DejaVu Sans"/>
              </a:defRPr>
            </a:pPr>
            <a:r>
              <a:rPr sz="1500" b="1">
                <a:solidFill>
                  <a:srgbClr val="087C85"/>
                </a:solidFill>
                <a:latin typeface="DejaVu Sans"/>
                <a:ea typeface="DejaVu Sans"/>
                <a:cs typeface="DejaVu Sans"/>
              </a:rPr>
              <a:t>IN PSEUDOEMBED</a:t>
            </a:r>
          </a:p>
        </p:txBody>
      </p:sp>
      <p:sp>
        <p:nvSpPr>
          <p:cNvPr id="11" name="">
            <a:extLst xmlns:a="http://schemas.openxmlformats.org/drawingml/2006/main">
              <a:ext uri="{FF2B5EF4-FFF2-40B4-BE49-F238E27FC236}">
                <a16:creationId xmlns:a16="http://schemas.microsoft.com/office/drawing/2014/main" id="{0947F050-71DE-442F-B84C-113960FA97A6}"/>
              </a:ext>
            </a:extLst>
          </p:cNvPr>
          <p:cNvSpPr>
            <a:spLocks xmlns:a="http://schemas.openxmlformats.org/drawingml/2006/main" noGrp="1"/>
          </p:cNvSpPr>
          <p:nvPr/>
        </p:nvSpPr>
        <p:spPr>
          <a:xfrm xmlns:a="http://schemas.openxmlformats.org/drawingml/2006/main">
            <a:off x="3352800" y="76771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7384A"/>
                </a:solidFill>
                <a:latin typeface="DejaVu Sans"/>
                <a:ea typeface="DejaVu Sans"/>
                <a:cs typeface="DejaVu Sans"/>
              </a:defRPr>
            </a:defPPr>
          </a:lstStyle>
          <a:p xmlns:a="http://schemas.openxmlformats.org/drawingml/2006/main">
            <a:pPr>
              <a:defRPr sz="1875" b="0">
                <a:solidFill>
                  <a:srgbClr val="17384A"/>
                </a:solidFill>
                <a:latin typeface="DejaVu Sans"/>
                <a:ea typeface="DejaVu Sans"/>
                <a:cs typeface="DejaVu Sans"/>
              </a:defRPr>
            </a:pPr>
            <a:r>
              <a:rPr sz="1875" b="0">
                <a:solidFill>
                  <a:srgbClr val="17384A"/>
                </a:solidFill>
                <a:latin typeface="DejaVu Sans"/>
                <a:ea typeface="DejaVu Sans"/>
                <a:cs typeface="DejaVu Sans"/>
              </a:rPr>
              <a:t>A hyperedge groups cells by a gene, regulon, or pathway activity bin. Cells can join many edges.</a:t>
            </a:r>
          </a:p>
        </p:txBody>
      </p:sp>
      <p:sp>
        <p:nvSpPr>
          <p:cNvPr id="12" name="">
            <a:extLst xmlns:a="http://schemas.openxmlformats.org/drawingml/2006/main">
              <a:ext uri="{FF2B5EF4-FFF2-40B4-BE49-F238E27FC236}">
                <a16:creationId xmlns:a16="http://schemas.microsoft.com/office/drawing/2014/main" id="{39FEB639-D7BA-4D53-9674-25A3A50C5C04}"/>
              </a:ext>
            </a:extLst>
          </p:cNvPr>
          <p:cNvSpPr>
            <a:spLocks xmlns:a="http://schemas.openxmlformats.org/drawingml/2006/main" noGrp="1"/>
          </p:cNvSpPr>
          <p:nvPr/>
        </p:nvSpPr>
        <p:spPr>
          <a:xfrm xmlns:a="http://schemas.openxmlformats.org/drawingml/2006/main">
            <a:off x="14592300" y="808672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576773"/>
                </a:solidFill>
                <a:latin typeface="DejaVu Sans"/>
                <a:ea typeface="DejaVu Sans"/>
                <a:cs typeface="DejaVu Sans"/>
              </a:defRPr>
            </a:defPPr>
          </a:lstStyle>
          <a:p xmlns:a="http://schemas.openxmlformats.org/drawingml/2006/main">
            <a:pPr>
              <a:defRPr sz="1275" b="0">
                <a:solidFill>
                  <a:srgbClr val="576773"/>
                </a:solidFill>
                <a:latin typeface="DejaVu Sans"/>
                <a:ea typeface="DejaVu Sans"/>
                <a:cs typeface="DejaVu Sans"/>
              </a:defRPr>
            </a:pPr>
            <a:r>
              <a:rPr sz="1275" b="0">
                <a:solidFill>
                  <a:srgbClr val="576773"/>
                </a:solidFill>
                <a:latin typeface="DejaVu Sans"/>
                <a:ea typeface="DejaVu Sans"/>
                <a:cs typeface="DejaVu Sans"/>
              </a:rPr>
              <a:t>03</a:t>
            </a:r>
          </a:p>
        </p:txBody>
      </p:sp>
    </p:spTree>
    <p:extLst>
      <p:ext uri="{BB962C8B-B14F-4D97-AF65-F5344CB8AC3E}">
        <p14:creationId xmlns:p14="http://schemas.microsoft.com/office/powerpoint/2010/main" val="1841815990"/>
      </p:ext>
    </p:extLst>
  </p:cSld>
</p:sld>
</file>

<file path=ppt/slides/slide4.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37D8F81-F785-43A9-ACDE-6527AFACCC0F}"/>
              </a:ext>
            </a:extLst>
          </p:cNvPr>
          <p:cNvSpPr>
            <a:spLocks xmlns:a="http://schemas.openxmlformats.org/drawingml/2006/main" noGrp="1"/>
          </p:cNvSpPr>
          <p:nvPr/>
        </p:nvSpPr>
        <p:spPr>
          <a:xfrm xmlns:a="http://schemas.openxmlformats.org/drawingml/2006/main">
            <a:off x="514350" y="333375"/>
            <a:ext cx="14192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675" b="1">
                <a:solidFill>
                  <a:srgbClr val="17384A"/>
                </a:solidFill>
                <a:latin typeface="DejaVu Sans"/>
                <a:ea typeface="DejaVu Sans"/>
                <a:cs typeface="DejaVu Sans"/>
              </a:defRPr>
            </a:defPPr>
          </a:lstStyle>
          <a:p xmlns:a="http://schemas.openxmlformats.org/drawingml/2006/main">
            <a:pPr>
              <a:defRPr sz="3675" b="1">
                <a:solidFill>
                  <a:srgbClr val="17384A"/>
                </a:solidFill>
                <a:latin typeface="DejaVu Sans"/>
                <a:ea typeface="DejaVu Sans"/>
                <a:cs typeface="DejaVu Sans"/>
              </a:defRPr>
            </a:pPr>
            <a:r>
              <a:rPr sz="3675" b="1">
                <a:solidFill>
                  <a:srgbClr val="17384A"/>
                </a:solidFill>
                <a:latin typeface="DejaVu Sans"/>
                <a:ea typeface="DejaVu Sans"/>
                <a:cs typeface="DejaVu Sans"/>
              </a:rPr>
              <a:t>Several views form a shared map</a:t>
            </a:r>
          </a:p>
        </p:txBody>
      </p:sp>
      <p:sp>
        <p:nvSpPr>
          <p:cNvPr id="2" name="">
            <a:extLst xmlns:a="http://schemas.openxmlformats.org/drawingml/2006/main">
              <a:ext uri="{FF2B5EF4-FFF2-40B4-BE49-F238E27FC236}">
                <a16:creationId xmlns:a16="http://schemas.microsoft.com/office/drawing/2014/main" id="{09320D68-71C6-43E1-A5D0-59054B5DF7FD}"/>
              </a:ext>
            </a:extLst>
          </p:cNvPr>
          <p:cNvSpPr>
            <a:spLocks xmlns:a="http://schemas.openxmlformats.org/drawingml/2006/main" noGrp="1"/>
          </p:cNvSpPr>
          <p:nvPr/>
        </p:nvSpPr>
        <p:spPr>
          <a:xfrm xmlns:a="http://schemas.openxmlformats.org/drawingml/2006/main">
            <a:off x="542925" y="1123950"/>
            <a:ext cx="1400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576773"/>
                </a:solidFill>
                <a:latin typeface="DejaVu Sans"/>
                <a:ea typeface="DejaVu Sans"/>
                <a:cs typeface="DejaVu Sans"/>
              </a:defRPr>
            </a:defPPr>
          </a:lstStyle>
          <a:p xmlns:a="http://schemas.openxmlformats.org/drawingml/2006/main">
            <a:pPr>
              <a:defRPr sz="2025" b="0">
                <a:solidFill>
                  <a:srgbClr val="576773"/>
                </a:solidFill>
                <a:latin typeface="DejaVu Sans"/>
                <a:ea typeface="DejaVu Sans"/>
                <a:cs typeface="DejaVu Sans"/>
              </a:defRPr>
            </a:pPr>
            <a:r>
              <a:rPr sz="2025" b="0">
                <a:solidFill>
                  <a:srgbClr val="576773"/>
                </a:solidFill>
                <a:latin typeface="DejaVu Sans"/>
                <a:ea typeface="DejaVu Sans"/>
                <a:cs typeface="DejaVu Sans"/>
              </a:rPr>
              <a:t>Similarity depends on more than one characteristic</a:t>
            </a:r>
          </a:p>
        </p:txBody>
      </p:sp>
      <p:pic>
        <p:nvPicPr>
          <p:cNvPr id="3" name="">
            <a:extLst xmlns:a="http://schemas.openxmlformats.org/drawingml/2006/main">
              <a:ext uri="{FF2B5EF4-FFF2-40B4-BE49-F238E27FC236}">
                <a16:creationId xmlns:a16="http://schemas.microsoft.com/office/drawing/2014/main" id="{2A7C503D-E373-46E7-BABE-DBB8B3E7FFB1}"/>
              </a:ext>
            </a:extLst>
          </p:cNvPr>
          <p:cNvPicPr>
            <a:picLocks xmlns:a="http://schemas.openxmlformats.org/drawingml/2006/main" noChangeAspect="1"/>
          </p:cNvPicPr>
          <p:nvPr/>
        </p:nvPicPr>
        <p:blipFill>
          <a:blip xmlns:r="http://schemas.openxmlformats.org/officeDocument/2006/relationships" xmlns:a="http://schemas.openxmlformats.org/drawingml/2006/main" r:embed="R75b74ba1ebb54aaf"/>
          <a:stretch xmlns:a="http://schemas.openxmlformats.org/drawingml/2006/main"/>
        </p:blipFill>
        <p:spPr>
          <a:xfrm xmlns:a="http://schemas.openxmlformats.org/drawingml/2006/main">
            <a:off x="564356" y="1828800"/>
            <a:ext cx="8643938" cy="5762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3C123C8-4214-461D-A0ED-0E34B0C83785}"/>
              </a:ext>
            </a:extLst>
          </p:cNvPr>
          <p:cNvSpPr>
            <a:spLocks xmlns:a="http://schemas.openxmlformats.org/drawingml/2006/main" noGrp="1"/>
          </p:cNvSpPr>
          <p:nvPr/>
        </p:nvSpPr>
        <p:spPr>
          <a:xfrm xmlns:a="http://schemas.openxmlformats.org/drawingml/2006/main">
            <a:off x="9906000" y="2209800"/>
            <a:ext cx="4810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87C85"/>
                </a:solidFill>
                <a:latin typeface="DejaVu Sans"/>
                <a:ea typeface="DejaVu Sans"/>
                <a:cs typeface="DejaVu Sans"/>
              </a:defRPr>
            </a:defPPr>
          </a:lstStyle>
          <a:p xmlns:a="http://schemas.openxmlformats.org/drawingml/2006/main">
            <a:pPr>
              <a:defRPr sz="2325" b="1">
                <a:solidFill>
                  <a:srgbClr val="087C85"/>
                </a:solidFill>
                <a:latin typeface="DejaVu Sans"/>
                <a:ea typeface="DejaVu Sans"/>
                <a:cs typeface="DejaVu Sans"/>
              </a:defRPr>
            </a:pPr>
            <a:r>
              <a:rPr sz="2325" b="1">
                <a:solidFill>
                  <a:srgbClr val="087C85"/>
                </a:solidFill>
                <a:latin typeface="DejaVu Sans"/>
                <a:ea typeface="DejaVu Sans"/>
                <a:cs typeface="DejaVu Sans"/>
              </a:rPr>
              <a:t>Different evidence</a:t>
            </a:r>
          </a:p>
        </p:txBody>
      </p:sp>
      <p:sp>
        <p:nvSpPr>
          <p:cNvPr id="5" name="">
            <a:extLst xmlns:a="http://schemas.openxmlformats.org/drawingml/2006/main">
              <a:ext uri="{FF2B5EF4-FFF2-40B4-BE49-F238E27FC236}">
                <a16:creationId xmlns:a16="http://schemas.microsoft.com/office/drawing/2014/main" id="{32B1DEA4-2578-483E-AE81-32B9B9BA6205}"/>
              </a:ext>
            </a:extLst>
          </p:cNvPr>
          <p:cNvSpPr>
            <a:spLocks xmlns:a="http://schemas.openxmlformats.org/drawingml/2006/main" noGrp="1"/>
          </p:cNvSpPr>
          <p:nvPr/>
        </p:nvSpPr>
        <p:spPr>
          <a:xfrm xmlns:a="http://schemas.openxmlformats.org/drawingml/2006/main">
            <a:off x="9906000" y="2724150"/>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84A"/>
                </a:solidFill>
                <a:latin typeface="DejaVu Sans"/>
                <a:ea typeface="DejaVu Sans"/>
                <a:cs typeface="DejaVu Sans"/>
              </a:defRPr>
            </a:defPPr>
          </a:lstStyle>
          <a:p xmlns:a="http://schemas.openxmlformats.org/drawingml/2006/main">
            <a:pPr>
              <a:defRPr sz="2100" b="0">
                <a:solidFill>
                  <a:srgbClr val="17384A"/>
                </a:solidFill>
                <a:latin typeface="DejaVu Sans"/>
                <a:ea typeface="DejaVu Sans"/>
                <a:cs typeface="DejaVu Sans"/>
              </a:defRPr>
            </a:pPr>
            <a:r>
              <a:rPr sz="2100" b="0">
                <a:solidFill>
                  <a:srgbClr val="17384A"/>
                </a:solidFill>
                <a:latin typeface="DejaVu Sans"/>
                <a:ea typeface="DejaVu Sans"/>
                <a:cs typeface="DejaVu Sans"/>
              </a:rPr>
              <a:t>Two people may be physically similar but differ in their skills.</a:t>
            </a:r>
          </a:p>
        </p:txBody>
      </p:sp>
      <p:sp>
        <p:nvSpPr>
          <p:cNvPr id="6" name="">
            <a:extLst xmlns:a="http://schemas.openxmlformats.org/drawingml/2006/main">
              <a:ext uri="{FF2B5EF4-FFF2-40B4-BE49-F238E27FC236}">
                <a16:creationId xmlns:a16="http://schemas.microsoft.com/office/drawing/2014/main" id="{A2B32C81-C8BE-4670-92BB-768F17263B4B}"/>
              </a:ext>
            </a:extLst>
          </p:cNvPr>
          <p:cNvSpPr>
            <a:spLocks xmlns:a="http://schemas.openxmlformats.org/drawingml/2006/main" noGrp="1"/>
          </p:cNvSpPr>
          <p:nvPr/>
        </p:nvSpPr>
        <p:spPr>
          <a:xfrm xmlns:a="http://schemas.openxmlformats.org/drawingml/2006/main">
            <a:off x="9906000" y="3876675"/>
            <a:ext cx="4810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87C85"/>
                </a:solidFill>
                <a:latin typeface="DejaVu Sans"/>
                <a:ea typeface="DejaVu Sans"/>
                <a:cs typeface="DejaVu Sans"/>
              </a:defRPr>
            </a:defPPr>
          </a:lstStyle>
          <a:p xmlns:a="http://schemas.openxmlformats.org/drawingml/2006/main">
            <a:pPr>
              <a:defRPr sz="2325" b="1">
                <a:solidFill>
                  <a:srgbClr val="087C85"/>
                </a:solidFill>
                <a:latin typeface="DejaVu Sans"/>
                <a:ea typeface="DejaVu Sans"/>
                <a:cs typeface="DejaVu Sans"/>
              </a:defRPr>
            </a:pPr>
            <a:r>
              <a:rPr sz="2325" b="1">
                <a:solidFill>
                  <a:srgbClr val="087C85"/>
                </a:solidFill>
                <a:latin typeface="DejaVu Sans"/>
                <a:ea typeface="DejaVu Sans"/>
                <a:cs typeface="DejaVu Sans"/>
              </a:rPr>
              <a:t>Combined structure</a:t>
            </a:r>
          </a:p>
        </p:txBody>
      </p:sp>
      <p:sp>
        <p:nvSpPr>
          <p:cNvPr id="7" name="">
            <a:extLst xmlns:a="http://schemas.openxmlformats.org/drawingml/2006/main">
              <a:ext uri="{FF2B5EF4-FFF2-40B4-BE49-F238E27FC236}">
                <a16:creationId xmlns:a16="http://schemas.microsoft.com/office/drawing/2014/main" id="{36C2701A-8013-43A1-A78C-27DEA966B4A4}"/>
              </a:ext>
            </a:extLst>
          </p:cNvPr>
          <p:cNvSpPr>
            <a:spLocks xmlns:a="http://schemas.openxmlformats.org/drawingml/2006/main" noGrp="1"/>
          </p:cNvSpPr>
          <p:nvPr/>
        </p:nvSpPr>
        <p:spPr>
          <a:xfrm xmlns:a="http://schemas.openxmlformats.org/drawingml/2006/main">
            <a:off x="9906000" y="4391025"/>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84A"/>
                </a:solidFill>
                <a:latin typeface="DejaVu Sans"/>
                <a:ea typeface="DejaVu Sans"/>
                <a:cs typeface="DejaVu Sans"/>
              </a:defRPr>
            </a:defPPr>
          </a:lstStyle>
          <a:p xmlns:a="http://schemas.openxmlformats.org/drawingml/2006/main">
            <a:pPr>
              <a:defRPr sz="2100" b="0">
                <a:solidFill>
                  <a:srgbClr val="17384A"/>
                </a:solidFill>
                <a:latin typeface="DejaVu Sans"/>
                <a:ea typeface="DejaVu Sans"/>
                <a:cs typeface="DejaVu Sans"/>
              </a:defRPr>
            </a:pPr>
            <a:r>
              <a:rPr sz="2100" b="0">
                <a:solidFill>
                  <a:srgbClr val="17384A"/>
                </a:solidFill>
                <a:latin typeface="DejaVu Sans"/>
                <a:ea typeface="DejaVu Sans"/>
                <a:cs typeface="DejaVu Sans"/>
              </a:rPr>
              <a:t>Overlapping groups help organize people into a common map.</a:t>
            </a:r>
          </a:p>
        </p:txBody>
      </p:sp>
      <p:sp>
        <p:nvSpPr>
          <p:cNvPr id="8" name="">
            <a:extLst xmlns:a="http://schemas.openxmlformats.org/drawingml/2006/main">
              <a:ext uri="{FF2B5EF4-FFF2-40B4-BE49-F238E27FC236}">
                <a16:creationId xmlns:a16="http://schemas.microsoft.com/office/drawing/2014/main" id="{3AC15003-BC43-4A48-A700-C8168148DBBA}"/>
              </a:ext>
            </a:extLst>
          </p:cNvPr>
          <p:cNvSpPr>
            <a:spLocks xmlns:a="http://schemas.openxmlformats.org/drawingml/2006/main" noGrp="1"/>
          </p:cNvSpPr>
          <p:nvPr/>
        </p:nvSpPr>
        <p:spPr>
          <a:xfrm xmlns:a="http://schemas.openxmlformats.org/drawingml/2006/main">
            <a:off x="9906000" y="5543550"/>
            <a:ext cx="4810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87C85"/>
                </a:solidFill>
                <a:latin typeface="DejaVu Sans"/>
                <a:ea typeface="DejaVu Sans"/>
                <a:cs typeface="DejaVu Sans"/>
              </a:defRPr>
            </a:defPPr>
          </a:lstStyle>
          <a:p xmlns:a="http://schemas.openxmlformats.org/drawingml/2006/main">
            <a:pPr>
              <a:defRPr sz="2325" b="1">
                <a:solidFill>
                  <a:srgbClr val="087C85"/>
                </a:solidFill>
                <a:latin typeface="DejaVu Sans"/>
                <a:ea typeface="DejaVu Sans"/>
                <a:cs typeface="DejaVu Sans"/>
              </a:defRPr>
            </a:pPr>
            <a:r>
              <a:rPr sz="2325" b="1">
                <a:solidFill>
                  <a:srgbClr val="087C85"/>
                </a:solidFill>
                <a:latin typeface="DejaVu Sans"/>
                <a:ea typeface="DejaVu Sans"/>
                <a:cs typeface="DejaVu Sans"/>
              </a:rPr>
              <a:t>Adjustable influence</a:t>
            </a:r>
          </a:p>
        </p:txBody>
      </p:sp>
      <p:sp>
        <p:nvSpPr>
          <p:cNvPr id="9" name="">
            <a:extLst xmlns:a="http://schemas.openxmlformats.org/drawingml/2006/main">
              <a:ext uri="{FF2B5EF4-FFF2-40B4-BE49-F238E27FC236}">
                <a16:creationId xmlns:a16="http://schemas.microsoft.com/office/drawing/2014/main" id="{42DE0DF9-4BF0-4EE2-A8DB-A644AF532462}"/>
              </a:ext>
            </a:extLst>
          </p:cNvPr>
          <p:cNvSpPr>
            <a:spLocks xmlns:a="http://schemas.openxmlformats.org/drawingml/2006/main" noGrp="1"/>
          </p:cNvSpPr>
          <p:nvPr/>
        </p:nvSpPr>
        <p:spPr>
          <a:xfrm xmlns:a="http://schemas.openxmlformats.org/drawingml/2006/main">
            <a:off x="9906000" y="6057900"/>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84A"/>
                </a:solidFill>
                <a:latin typeface="DejaVu Sans"/>
                <a:ea typeface="DejaVu Sans"/>
                <a:cs typeface="DejaVu Sans"/>
              </a:defRPr>
            </a:defPPr>
          </a:lstStyle>
          <a:p xmlns:a="http://schemas.openxmlformats.org/drawingml/2006/main">
            <a:pPr>
              <a:defRPr sz="2100" b="0">
                <a:solidFill>
                  <a:srgbClr val="17384A"/>
                </a:solidFill>
                <a:latin typeface="DejaVu Sans"/>
                <a:ea typeface="DejaVu Sans"/>
                <a:cs typeface="DejaVu Sans"/>
              </a:defRPr>
            </a:pPr>
            <a:r>
              <a:rPr sz="2100" b="0">
                <a:solidFill>
                  <a:srgbClr val="17384A"/>
                </a:solidFill>
                <a:latin typeface="DejaVu Sans"/>
                <a:ea typeface="DejaVu Sans"/>
                <a:cs typeface="DejaVu Sans"/>
              </a:rPr>
              <a:t>We can change the weight assigned to each view.</a:t>
            </a:r>
          </a:p>
        </p:txBody>
      </p:sp>
      <p:sp>
        <p:nvSpPr>
          <p:cNvPr id="10" name="">
            <a:extLst xmlns:a="http://schemas.openxmlformats.org/drawingml/2006/main">
              <a:ext uri="{FF2B5EF4-FFF2-40B4-BE49-F238E27FC236}">
                <a16:creationId xmlns:a16="http://schemas.microsoft.com/office/drawing/2014/main" id="{AF1A62DA-3354-4AE6-A161-FB9ADE2EF493}"/>
              </a:ext>
            </a:extLst>
          </p:cNvPr>
          <p:cNvSpPr>
            <a:spLocks xmlns:a="http://schemas.openxmlformats.org/drawingml/2006/main" noGrp="1"/>
          </p:cNvSpPr>
          <p:nvPr/>
        </p:nvSpPr>
        <p:spPr>
          <a:xfrm xmlns:a="http://schemas.openxmlformats.org/drawingml/2006/main">
            <a:off x="542925" y="769620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1">
                <a:solidFill>
                  <a:srgbClr val="087C85"/>
                </a:solidFill>
                <a:latin typeface="DejaVu Sans"/>
                <a:ea typeface="DejaVu Sans"/>
                <a:cs typeface="DejaVu Sans"/>
              </a:defRPr>
            </a:defPPr>
          </a:lstStyle>
          <a:p xmlns:a="http://schemas.openxmlformats.org/drawingml/2006/main">
            <a:pPr>
              <a:defRPr sz="1500" b="1">
                <a:solidFill>
                  <a:srgbClr val="087C85"/>
                </a:solidFill>
                <a:latin typeface="DejaVu Sans"/>
                <a:ea typeface="DejaVu Sans"/>
                <a:cs typeface="DejaVu Sans"/>
              </a:defRPr>
            </a:pPr>
            <a:r>
              <a:rPr sz="1500" b="1">
                <a:solidFill>
                  <a:srgbClr val="087C85"/>
                </a:solidFill>
                <a:latin typeface="DejaVu Sans"/>
                <a:ea typeface="DejaVu Sans"/>
                <a:cs typeface="DejaVu Sans"/>
              </a:rPr>
              <a:t>IN PSEUDOEMBED</a:t>
            </a:r>
          </a:p>
        </p:txBody>
      </p:sp>
      <p:sp>
        <p:nvSpPr>
          <p:cNvPr id="11" name="">
            <a:extLst xmlns:a="http://schemas.openxmlformats.org/drawingml/2006/main">
              <a:ext uri="{FF2B5EF4-FFF2-40B4-BE49-F238E27FC236}">
                <a16:creationId xmlns:a16="http://schemas.microsoft.com/office/drawing/2014/main" id="{6BCF3E41-264B-40E1-B8FD-CDBC2340B6E8}"/>
              </a:ext>
            </a:extLst>
          </p:cNvPr>
          <p:cNvSpPr>
            <a:spLocks xmlns:a="http://schemas.openxmlformats.org/drawingml/2006/main" noGrp="1"/>
          </p:cNvSpPr>
          <p:nvPr/>
        </p:nvSpPr>
        <p:spPr>
          <a:xfrm xmlns:a="http://schemas.openxmlformats.org/drawingml/2006/main">
            <a:off x="3352800" y="76771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7384A"/>
                </a:solidFill>
                <a:latin typeface="DejaVu Sans"/>
                <a:ea typeface="DejaVu Sans"/>
                <a:cs typeface="DejaVu Sans"/>
              </a:defRPr>
            </a:defPPr>
          </a:lstStyle>
          <a:p xmlns:a="http://schemas.openxmlformats.org/drawingml/2006/main">
            <a:pPr>
              <a:defRPr sz="1875" b="0">
                <a:solidFill>
                  <a:srgbClr val="17384A"/>
                </a:solidFill>
                <a:latin typeface="DejaVu Sans"/>
                <a:ea typeface="DejaVu Sans"/>
                <a:cs typeface="DejaVu Sans"/>
              </a:defRPr>
            </a:pPr>
            <a:r>
              <a:rPr sz="1875" b="0">
                <a:solidFill>
                  <a:srgbClr val="17384A"/>
                </a:solidFill>
                <a:latin typeface="DejaVu Sans"/>
                <a:ea typeface="DejaVu Sans"/>
                <a:cs typeface="DejaVu Sans"/>
              </a:rPr>
              <a:t>PseudoEmbed normalizes hypergraph operators and combines them. The result defines cell similarity.</a:t>
            </a:r>
          </a:p>
        </p:txBody>
      </p:sp>
      <p:sp>
        <p:nvSpPr>
          <p:cNvPr id="12" name="">
            <a:extLst xmlns:a="http://schemas.openxmlformats.org/drawingml/2006/main">
              <a:ext uri="{FF2B5EF4-FFF2-40B4-BE49-F238E27FC236}">
                <a16:creationId xmlns:a16="http://schemas.microsoft.com/office/drawing/2014/main" id="{9A61D2BC-74E9-49C0-975F-C361FB97A533}"/>
              </a:ext>
            </a:extLst>
          </p:cNvPr>
          <p:cNvSpPr>
            <a:spLocks xmlns:a="http://schemas.openxmlformats.org/drawingml/2006/main" noGrp="1"/>
          </p:cNvSpPr>
          <p:nvPr/>
        </p:nvSpPr>
        <p:spPr>
          <a:xfrm xmlns:a="http://schemas.openxmlformats.org/drawingml/2006/main">
            <a:off x="14592300" y="808672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576773"/>
                </a:solidFill>
                <a:latin typeface="DejaVu Sans"/>
                <a:ea typeface="DejaVu Sans"/>
                <a:cs typeface="DejaVu Sans"/>
              </a:defRPr>
            </a:defPPr>
          </a:lstStyle>
          <a:p xmlns:a="http://schemas.openxmlformats.org/drawingml/2006/main">
            <a:pPr>
              <a:defRPr sz="1275" b="0">
                <a:solidFill>
                  <a:srgbClr val="576773"/>
                </a:solidFill>
                <a:latin typeface="DejaVu Sans"/>
                <a:ea typeface="DejaVu Sans"/>
                <a:cs typeface="DejaVu Sans"/>
              </a:defRPr>
            </a:pPr>
            <a:r>
              <a:rPr sz="1275" b="0">
                <a:solidFill>
                  <a:srgbClr val="576773"/>
                </a:solidFill>
                <a:latin typeface="DejaVu Sans"/>
                <a:ea typeface="DejaVu Sans"/>
                <a:cs typeface="DejaVu Sans"/>
              </a:rPr>
              <a:t>04</a:t>
            </a:r>
          </a:p>
        </p:txBody>
      </p:sp>
    </p:spTree>
    <p:extLst>
      <p:ext uri="{BB962C8B-B14F-4D97-AF65-F5344CB8AC3E}">
        <p14:creationId xmlns:p14="http://schemas.microsoft.com/office/powerpoint/2010/main" val="1799158426"/>
      </p:ext>
    </p:extLst>
  </p:cSld>
</p:sld>
</file>

<file path=ppt/slides/slide5.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DDFA6DD-EF0B-490B-A79E-A872CA27A27D}"/>
              </a:ext>
            </a:extLst>
          </p:cNvPr>
          <p:cNvSpPr>
            <a:spLocks xmlns:a="http://schemas.openxmlformats.org/drawingml/2006/main" noGrp="1"/>
          </p:cNvSpPr>
          <p:nvPr/>
        </p:nvSpPr>
        <p:spPr>
          <a:xfrm xmlns:a="http://schemas.openxmlformats.org/drawingml/2006/main">
            <a:off x="514350" y="333375"/>
            <a:ext cx="14192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675" b="1">
                <a:solidFill>
                  <a:srgbClr val="17384A"/>
                </a:solidFill>
                <a:latin typeface="DejaVu Sans"/>
                <a:ea typeface="DejaVu Sans"/>
                <a:cs typeface="DejaVu Sans"/>
              </a:defRPr>
            </a:defPPr>
          </a:lstStyle>
          <a:p xmlns:a="http://schemas.openxmlformats.org/drawingml/2006/main">
            <a:pPr>
              <a:defRPr sz="3675" b="1">
                <a:solidFill>
                  <a:srgbClr val="17384A"/>
                </a:solidFill>
                <a:latin typeface="DejaVu Sans"/>
                <a:ea typeface="DejaVu Sans"/>
                <a:cs typeface="DejaVu Sans"/>
              </a:defRPr>
            </a:pPr>
            <a:r>
              <a:rPr sz="3675" b="1">
                <a:solidFill>
                  <a:srgbClr val="17384A"/>
                </a:solidFill>
                <a:latin typeface="DejaVu Sans"/>
                <a:ea typeface="DejaVu Sans"/>
                <a:cs typeface="DejaVu Sans"/>
              </a:rPr>
              <a:t>Pseudotime follows a path from a root</a:t>
            </a:r>
          </a:p>
        </p:txBody>
      </p:sp>
      <p:sp>
        <p:nvSpPr>
          <p:cNvPr id="2" name="">
            <a:extLst xmlns:a="http://schemas.openxmlformats.org/drawingml/2006/main">
              <a:ext uri="{FF2B5EF4-FFF2-40B4-BE49-F238E27FC236}">
                <a16:creationId xmlns:a16="http://schemas.microsoft.com/office/drawing/2014/main" id="{C1D62D3F-FE2F-4866-BD7B-587FB1742A28}"/>
              </a:ext>
            </a:extLst>
          </p:cNvPr>
          <p:cNvSpPr>
            <a:spLocks xmlns:a="http://schemas.openxmlformats.org/drawingml/2006/main" noGrp="1"/>
          </p:cNvSpPr>
          <p:nvPr/>
        </p:nvSpPr>
        <p:spPr>
          <a:xfrm xmlns:a="http://schemas.openxmlformats.org/drawingml/2006/main">
            <a:off x="542925" y="1123950"/>
            <a:ext cx="1400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576773"/>
                </a:solidFill>
                <a:latin typeface="DejaVu Sans"/>
                <a:ea typeface="DejaVu Sans"/>
                <a:cs typeface="DejaVu Sans"/>
              </a:defRPr>
            </a:defPPr>
          </a:lstStyle>
          <a:p xmlns:a="http://schemas.openxmlformats.org/drawingml/2006/main">
            <a:pPr>
              <a:defRPr sz="2025" b="0">
                <a:solidFill>
                  <a:srgbClr val="576773"/>
                </a:solidFill>
                <a:latin typeface="DejaVu Sans"/>
                <a:ea typeface="DejaVu Sans"/>
                <a:cs typeface="DejaVu Sans"/>
              </a:defRPr>
            </a:pPr>
            <a:r>
              <a:rPr sz="2025" b="0">
                <a:solidFill>
                  <a:srgbClr val="576773"/>
                </a:solidFill>
                <a:latin typeface="DejaVu Sans"/>
                <a:ea typeface="DejaVu Sans"/>
                <a:cs typeface="DejaVu Sans"/>
              </a:rPr>
              <a:t>Relative developmental position, not age in years</a:t>
            </a:r>
          </a:p>
        </p:txBody>
      </p:sp>
      <p:pic>
        <p:nvPicPr>
          <p:cNvPr id="3" name="">
            <a:extLst xmlns:a="http://schemas.openxmlformats.org/drawingml/2006/main">
              <a:ext uri="{FF2B5EF4-FFF2-40B4-BE49-F238E27FC236}">
                <a16:creationId xmlns:a16="http://schemas.microsoft.com/office/drawing/2014/main" id="{FD04EC73-39A5-4203-B5BE-7F6ABF748743}"/>
              </a:ext>
            </a:extLst>
          </p:cNvPr>
          <p:cNvPicPr>
            <a:picLocks xmlns:a="http://schemas.openxmlformats.org/drawingml/2006/main" noChangeAspect="1"/>
          </p:cNvPicPr>
          <p:nvPr/>
        </p:nvPicPr>
        <p:blipFill>
          <a:blip xmlns:r="http://schemas.openxmlformats.org/officeDocument/2006/relationships" xmlns:a="http://schemas.openxmlformats.org/drawingml/2006/main" r:embed="R81e51e45e3854605"/>
          <a:stretch xmlns:a="http://schemas.openxmlformats.org/drawingml/2006/main"/>
        </p:blipFill>
        <p:spPr>
          <a:xfrm xmlns:a="http://schemas.openxmlformats.org/drawingml/2006/main">
            <a:off x="564356" y="1828800"/>
            <a:ext cx="8643938" cy="5762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7A6E730-DCD4-472E-831C-F35107AE7A76}"/>
              </a:ext>
            </a:extLst>
          </p:cNvPr>
          <p:cNvSpPr>
            <a:spLocks xmlns:a="http://schemas.openxmlformats.org/drawingml/2006/main" noGrp="1"/>
          </p:cNvSpPr>
          <p:nvPr/>
        </p:nvSpPr>
        <p:spPr>
          <a:xfrm xmlns:a="http://schemas.openxmlformats.org/drawingml/2006/main">
            <a:off x="9906000" y="2209800"/>
            <a:ext cx="4810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87C85"/>
                </a:solidFill>
                <a:latin typeface="DejaVu Sans"/>
                <a:ea typeface="DejaVu Sans"/>
                <a:cs typeface="DejaVu Sans"/>
              </a:defRPr>
            </a:defPPr>
          </a:lstStyle>
          <a:p xmlns:a="http://schemas.openxmlformats.org/drawingml/2006/main">
            <a:pPr>
              <a:defRPr sz="2325" b="1">
                <a:solidFill>
                  <a:srgbClr val="087C85"/>
                </a:solidFill>
                <a:latin typeface="DejaVu Sans"/>
                <a:ea typeface="DejaVu Sans"/>
                <a:cs typeface="DejaVu Sans"/>
              </a:defRPr>
            </a:pPr>
            <a:r>
              <a:rPr sz="2325" b="1">
                <a:solidFill>
                  <a:srgbClr val="087C85"/>
                </a:solidFill>
                <a:latin typeface="DejaVu Sans"/>
                <a:ea typeface="DejaVu Sans"/>
                <a:cs typeface="DejaVu Sans"/>
              </a:rPr>
              <a:t>Choose a starting point</a:t>
            </a:r>
          </a:p>
        </p:txBody>
      </p:sp>
      <p:sp>
        <p:nvSpPr>
          <p:cNvPr id="5" name="">
            <a:extLst xmlns:a="http://schemas.openxmlformats.org/drawingml/2006/main">
              <a:ext uri="{FF2B5EF4-FFF2-40B4-BE49-F238E27FC236}">
                <a16:creationId xmlns:a16="http://schemas.microsoft.com/office/drawing/2014/main" id="{51C9EB07-47CB-4048-A296-9077D6E37F0C}"/>
              </a:ext>
            </a:extLst>
          </p:cNvPr>
          <p:cNvSpPr>
            <a:spLocks xmlns:a="http://schemas.openxmlformats.org/drawingml/2006/main" noGrp="1"/>
          </p:cNvSpPr>
          <p:nvPr/>
        </p:nvSpPr>
        <p:spPr>
          <a:xfrm xmlns:a="http://schemas.openxmlformats.org/drawingml/2006/main">
            <a:off x="9906000" y="2724150"/>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84A"/>
                </a:solidFill>
                <a:latin typeface="DejaVu Sans"/>
                <a:ea typeface="DejaVu Sans"/>
                <a:cs typeface="DejaVu Sans"/>
              </a:defRPr>
            </a:defPPr>
          </a:lstStyle>
          <a:p xmlns:a="http://schemas.openxmlformats.org/drawingml/2006/main">
            <a:pPr>
              <a:defRPr sz="2100" b="0">
                <a:solidFill>
                  <a:srgbClr val="17384A"/>
                </a:solidFill>
                <a:latin typeface="DejaVu Sans"/>
                <a:ea typeface="DejaVu Sans"/>
                <a:cs typeface="DejaVu Sans"/>
              </a:defRPr>
            </a:pPr>
            <a:r>
              <a:rPr sz="2100" b="0">
                <a:solidFill>
                  <a:srgbClr val="17384A"/>
                </a:solidFill>
                <a:latin typeface="DejaVu Sans"/>
                <a:ea typeface="DejaVu Sans"/>
                <a:cs typeface="DejaVu Sans"/>
              </a:rPr>
              <a:t>An infant-like profile represents an early state.</a:t>
            </a:r>
          </a:p>
        </p:txBody>
      </p:sp>
      <p:sp>
        <p:nvSpPr>
          <p:cNvPr id="6" name="">
            <a:extLst xmlns:a="http://schemas.openxmlformats.org/drawingml/2006/main">
              <a:ext uri="{FF2B5EF4-FFF2-40B4-BE49-F238E27FC236}">
                <a16:creationId xmlns:a16="http://schemas.microsoft.com/office/drawing/2014/main" id="{B3B65D20-2830-46A4-BF46-7B5BCE846F94}"/>
              </a:ext>
            </a:extLst>
          </p:cNvPr>
          <p:cNvSpPr>
            <a:spLocks xmlns:a="http://schemas.openxmlformats.org/drawingml/2006/main" noGrp="1"/>
          </p:cNvSpPr>
          <p:nvPr/>
        </p:nvSpPr>
        <p:spPr>
          <a:xfrm xmlns:a="http://schemas.openxmlformats.org/drawingml/2006/main">
            <a:off x="9906000" y="3876675"/>
            <a:ext cx="4810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87C85"/>
                </a:solidFill>
                <a:latin typeface="DejaVu Sans"/>
                <a:ea typeface="DejaVu Sans"/>
                <a:cs typeface="DejaVu Sans"/>
              </a:defRPr>
            </a:defPPr>
          </a:lstStyle>
          <a:p xmlns:a="http://schemas.openxmlformats.org/drawingml/2006/main">
            <a:pPr>
              <a:defRPr sz="2325" b="1">
                <a:solidFill>
                  <a:srgbClr val="087C85"/>
                </a:solidFill>
                <a:latin typeface="DejaVu Sans"/>
                <a:ea typeface="DejaVu Sans"/>
                <a:cs typeface="DejaVu Sans"/>
              </a:defRPr>
            </a:pPr>
            <a:r>
              <a:rPr sz="2325" b="1">
                <a:solidFill>
                  <a:srgbClr val="087C85"/>
                </a:solidFill>
                <a:latin typeface="DejaVu Sans"/>
                <a:ea typeface="DejaVu Sans"/>
                <a:cs typeface="DejaVu Sans"/>
              </a:rPr>
              <a:t>Follow the map</a:t>
            </a:r>
          </a:p>
        </p:txBody>
      </p:sp>
      <p:sp>
        <p:nvSpPr>
          <p:cNvPr id="7" name="">
            <a:extLst xmlns:a="http://schemas.openxmlformats.org/drawingml/2006/main">
              <a:ext uri="{FF2B5EF4-FFF2-40B4-BE49-F238E27FC236}">
                <a16:creationId xmlns:a16="http://schemas.microsoft.com/office/drawing/2014/main" id="{7E994A7D-15BF-4808-B1DD-949AA55D4A10}"/>
              </a:ext>
            </a:extLst>
          </p:cNvPr>
          <p:cNvSpPr>
            <a:spLocks xmlns:a="http://schemas.openxmlformats.org/drawingml/2006/main" noGrp="1"/>
          </p:cNvSpPr>
          <p:nvPr/>
        </p:nvSpPr>
        <p:spPr>
          <a:xfrm xmlns:a="http://schemas.openxmlformats.org/drawingml/2006/main">
            <a:off x="9906000" y="4391025"/>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84A"/>
                </a:solidFill>
                <a:latin typeface="DejaVu Sans"/>
                <a:ea typeface="DejaVu Sans"/>
                <a:cs typeface="DejaVu Sans"/>
              </a:defRPr>
            </a:defPPr>
          </a:lstStyle>
          <a:p xmlns:a="http://schemas.openxmlformats.org/drawingml/2006/main">
            <a:pPr>
              <a:defRPr sz="2100" b="0">
                <a:solidFill>
                  <a:srgbClr val="17384A"/>
                </a:solidFill>
                <a:latin typeface="DejaVu Sans"/>
                <a:ea typeface="DejaVu Sans"/>
                <a:cs typeface="DejaVu Sans"/>
              </a:defRPr>
            </a:pPr>
            <a:r>
              <a:rPr sz="2100" b="0">
                <a:solidFill>
                  <a:srgbClr val="17384A"/>
                </a:solidFill>
                <a:latin typeface="DejaVu Sans"/>
                <a:ea typeface="DejaVu Sans"/>
                <a:cs typeface="DejaVu Sans"/>
              </a:rPr>
              <a:t>Distance follows connections through similar people.</a:t>
            </a:r>
          </a:p>
        </p:txBody>
      </p:sp>
      <p:sp>
        <p:nvSpPr>
          <p:cNvPr id="8" name="">
            <a:extLst xmlns:a="http://schemas.openxmlformats.org/drawingml/2006/main">
              <a:ext uri="{FF2B5EF4-FFF2-40B4-BE49-F238E27FC236}">
                <a16:creationId xmlns:a16="http://schemas.microsoft.com/office/drawing/2014/main" id="{B8DEC66C-D576-4198-A65A-EE6F40F7FE2D}"/>
              </a:ext>
            </a:extLst>
          </p:cNvPr>
          <p:cNvSpPr>
            <a:spLocks xmlns:a="http://schemas.openxmlformats.org/drawingml/2006/main" noGrp="1"/>
          </p:cNvSpPr>
          <p:nvPr/>
        </p:nvSpPr>
        <p:spPr>
          <a:xfrm xmlns:a="http://schemas.openxmlformats.org/drawingml/2006/main">
            <a:off x="9906000" y="5543550"/>
            <a:ext cx="4810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87C85"/>
                </a:solidFill>
                <a:latin typeface="DejaVu Sans"/>
                <a:ea typeface="DejaVu Sans"/>
                <a:cs typeface="DejaVu Sans"/>
              </a:defRPr>
            </a:defPPr>
          </a:lstStyle>
          <a:p xmlns:a="http://schemas.openxmlformats.org/drawingml/2006/main">
            <a:pPr>
              <a:defRPr sz="2325" b="1">
                <a:solidFill>
                  <a:srgbClr val="087C85"/>
                </a:solidFill>
                <a:latin typeface="DejaVu Sans"/>
                <a:ea typeface="DejaVu Sans"/>
                <a:cs typeface="DejaVu Sans"/>
              </a:defRPr>
            </a:pPr>
            <a:r>
              <a:rPr sz="2325" b="1">
                <a:solidFill>
                  <a:srgbClr val="087C85"/>
                </a:solidFill>
                <a:latin typeface="DejaVu Sans"/>
                <a:ea typeface="DejaVu Sans"/>
                <a:cs typeface="DejaVu Sans"/>
              </a:rPr>
              <a:t>Read the ordering</a:t>
            </a:r>
          </a:p>
        </p:txBody>
      </p:sp>
      <p:sp>
        <p:nvSpPr>
          <p:cNvPr id="9" name="">
            <a:extLst xmlns:a="http://schemas.openxmlformats.org/drawingml/2006/main">
              <a:ext uri="{FF2B5EF4-FFF2-40B4-BE49-F238E27FC236}">
                <a16:creationId xmlns:a16="http://schemas.microsoft.com/office/drawing/2014/main" id="{BECB89A8-B0CE-4E88-963D-0D12DA80A81B}"/>
              </a:ext>
            </a:extLst>
          </p:cNvPr>
          <p:cNvSpPr>
            <a:spLocks xmlns:a="http://schemas.openxmlformats.org/drawingml/2006/main" noGrp="1"/>
          </p:cNvSpPr>
          <p:nvPr/>
        </p:nvSpPr>
        <p:spPr>
          <a:xfrm xmlns:a="http://schemas.openxmlformats.org/drawingml/2006/main">
            <a:off x="9906000" y="6057900"/>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84A"/>
                </a:solidFill>
                <a:latin typeface="DejaVu Sans"/>
                <a:ea typeface="DejaVu Sans"/>
                <a:cs typeface="DejaVu Sans"/>
              </a:defRPr>
            </a:defPPr>
          </a:lstStyle>
          <a:p xmlns:a="http://schemas.openxmlformats.org/drawingml/2006/main">
            <a:pPr>
              <a:defRPr sz="2100" b="0">
                <a:solidFill>
                  <a:srgbClr val="17384A"/>
                </a:solidFill>
                <a:latin typeface="DejaVu Sans"/>
                <a:ea typeface="DejaVu Sans"/>
                <a:cs typeface="DejaVu Sans"/>
              </a:defRPr>
            </a:pPr>
            <a:r>
              <a:rPr sz="2100" b="0">
                <a:solidFill>
                  <a:srgbClr val="17384A"/>
                </a:solidFill>
                <a:latin typeface="DejaVu Sans"/>
                <a:ea typeface="DejaVu Sans"/>
                <a:cs typeface="DejaVu Sans"/>
              </a:rPr>
              <a:t>A larger score means farther along this inferred progression.</a:t>
            </a:r>
          </a:p>
        </p:txBody>
      </p:sp>
      <p:sp>
        <p:nvSpPr>
          <p:cNvPr id="10" name="">
            <a:extLst xmlns:a="http://schemas.openxmlformats.org/drawingml/2006/main">
              <a:ext uri="{FF2B5EF4-FFF2-40B4-BE49-F238E27FC236}">
                <a16:creationId xmlns:a16="http://schemas.microsoft.com/office/drawing/2014/main" id="{A334870C-EA33-4E41-A32D-9769CB8BE2CE}"/>
              </a:ext>
            </a:extLst>
          </p:cNvPr>
          <p:cNvSpPr>
            <a:spLocks xmlns:a="http://schemas.openxmlformats.org/drawingml/2006/main" noGrp="1"/>
          </p:cNvSpPr>
          <p:nvPr/>
        </p:nvSpPr>
        <p:spPr>
          <a:xfrm xmlns:a="http://schemas.openxmlformats.org/drawingml/2006/main">
            <a:off x="542925" y="769620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1">
                <a:solidFill>
                  <a:srgbClr val="087C85"/>
                </a:solidFill>
                <a:latin typeface="DejaVu Sans"/>
                <a:ea typeface="DejaVu Sans"/>
                <a:cs typeface="DejaVu Sans"/>
              </a:defRPr>
            </a:defPPr>
          </a:lstStyle>
          <a:p xmlns:a="http://schemas.openxmlformats.org/drawingml/2006/main">
            <a:pPr>
              <a:defRPr sz="1500" b="1">
                <a:solidFill>
                  <a:srgbClr val="087C85"/>
                </a:solidFill>
                <a:latin typeface="DejaVu Sans"/>
                <a:ea typeface="DejaVu Sans"/>
                <a:cs typeface="DejaVu Sans"/>
              </a:defRPr>
            </a:pPr>
            <a:r>
              <a:rPr sz="1500" b="1">
                <a:solidFill>
                  <a:srgbClr val="087C85"/>
                </a:solidFill>
                <a:latin typeface="DejaVu Sans"/>
                <a:ea typeface="DejaVu Sans"/>
                <a:cs typeface="DejaVu Sans"/>
              </a:rPr>
              <a:t>IN PSEUDOEMBED</a:t>
            </a:r>
          </a:p>
        </p:txBody>
      </p:sp>
      <p:sp>
        <p:nvSpPr>
          <p:cNvPr id="11" name="">
            <a:extLst xmlns:a="http://schemas.openxmlformats.org/drawingml/2006/main">
              <a:ext uri="{FF2B5EF4-FFF2-40B4-BE49-F238E27FC236}">
                <a16:creationId xmlns:a16="http://schemas.microsoft.com/office/drawing/2014/main" id="{A33A133F-F53D-4549-9331-65727CBFC142}"/>
              </a:ext>
            </a:extLst>
          </p:cNvPr>
          <p:cNvSpPr>
            <a:spLocks xmlns:a="http://schemas.openxmlformats.org/drawingml/2006/main" noGrp="1"/>
          </p:cNvSpPr>
          <p:nvPr/>
        </p:nvSpPr>
        <p:spPr>
          <a:xfrm xmlns:a="http://schemas.openxmlformats.org/drawingml/2006/main">
            <a:off x="3352800" y="76771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7384A"/>
                </a:solidFill>
                <a:latin typeface="DejaVu Sans"/>
                <a:ea typeface="DejaVu Sans"/>
                <a:cs typeface="DejaVu Sans"/>
              </a:defRPr>
            </a:defPPr>
          </a:lstStyle>
          <a:p xmlns:a="http://schemas.openxmlformats.org/drawingml/2006/main">
            <a:pPr>
              <a:defRPr sz="1875" b="0">
                <a:solidFill>
                  <a:srgbClr val="17384A"/>
                </a:solidFill>
                <a:latin typeface="DejaVu Sans"/>
                <a:ea typeface="DejaVu Sans"/>
                <a:cs typeface="DejaVu Sans"/>
              </a:defRPr>
            </a:pPr>
            <a:r>
              <a:rPr sz="1875" b="0">
                <a:solidFill>
                  <a:srgbClr val="17384A"/>
                </a:solidFill>
                <a:latin typeface="DejaVu Sans"/>
                <a:ea typeface="DejaVu Sans"/>
                <a:cs typeface="DejaVu Sans"/>
              </a:rPr>
              <a:t>PseudoEmbed uses a spectral embedding and root-to-cell distance, usually along a neighborhood graph.</a:t>
            </a:r>
          </a:p>
        </p:txBody>
      </p:sp>
      <p:sp>
        <p:nvSpPr>
          <p:cNvPr id="12" name="">
            <a:extLst xmlns:a="http://schemas.openxmlformats.org/drawingml/2006/main">
              <a:ext uri="{FF2B5EF4-FFF2-40B4-BE49-F238E27FC236}">
                <a16:creationId xmlns:a16="http://schemas.microsoft.com/office/drawing/2014/main" id="{23801786-C512-46D2-967A-1111E74D5699}"/>
              </a:ext>
            </a:extLst>
          </p:cNvPr>
          <p:cNvSpPr>
            <a:spLocks xmlns:a="http://schemas.openxmlformats.org/drawingml/2006/main" noGrp="1"/>
          </p:cNvSpPr>
          <p:nvPr/>
        </p:nvSpPr>
        <p:spPr>
          <a:xfrm xmlns:a="http://schemas.openxmlformats.org/drawingml/2006/main">
            <a:off x="14592300" y="808672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576773"/>
                </a:solidFill>
                <a:latin typeface="DejaVu Sans"/>
                <a:ea typeface="DejaVu Sans"/>
                <a:cs typeface="DejaVu Sans"/>
              </a:defRPr>
            </a:defPPr>
          </a:lstStyle>
          <a:p xmlns:a="http://schemas.openxmlformats.org/drawingml/2006/main">
            <a:pPr>
              <a:defRPr sz="1275" b="0">
                <a:solidFill>
                  <a:srgbClr val="576773"/>
                </a:solidFill>
                <a:latin typeface="DejaVu Sans"/>
                <a:ea typeface="DejaVu Sans"/>
                <a:cs typeface="DejaVu Sans"/>
              </a:defRPr>
            </a:pPr>
            <a:r>
              <a:rPr sz="1275" b="0">
                <a:solidFill>
                  <a:srgbClr val="576773"/>
                </a:solidFill>
                <a:latin typeface="DejaVu Sans"/>
                <a:ea typeface="DejaVu Sans"/>
                <a:cs typeface="DejaVu Sans"/>
              </a:rPr>
              <a:t>05</a:t>
            </a:r>
          </a:p>
        </p:txBody>
      </p:sp>
    </p:spTree>
    <p:extLst>
      <p:ext uri="{BB962C8B-B14F-4D97-AF65-F5344CB8AC3E}">
        <p14:creationId xmlns:p14="http://schemas.microsoft.com/office/powerpoint/2010/main" val="2074396665"/>
      </p:ext>
    </p:extLst>
  </p:cSld>
</p:sld>
</file>

<file path=ppt/slides/slide6.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3EA971D-3874-4E67-9061-A220DDB65CC1}"/>
              </a:ext>
            </a:extLst>
          </p:cNvPr>
          <p:cNvSpPr>
            <a:spLocks xmlns:a="http://schemas.openxmlformats.org/drawingml/2006/main" noGrp="1"/>
          </p:cNvSpPr>
          <p:nvPr/>
        </p:nvSpPr>
        <p:spPr>
          <a:xfrm xmlns:a="http://schemas.openxmlformats.org/drawingml/2006/main">
            <a:off x="514350" y="333375"/>
            <a:ext cx="14192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675" b="1">
                <a:solidFill>
                  <a:srgbClr val="17384A"/>
                </a:solidFill>
                <a:latin typeface="DejaVu Sans"/>
                <a:ea typeface="DejaVu Sans"/>
                <a:cs typeface="DejaVu Sans"/>
              </a:defRPr>
            </a:defPPr>
          </a:lstStyle>
          <a:p xmlns:a="http://schemas.openxmlformats.org/drawingml/2006/main">
            <a:pPr>
              <a:defRPr sz="3675" b="1">
                <a:solidFill>
                  <a:srgbClr val="17384A"/>
                </a:solidFill>
                <a:latin typeface="DejaVu Sans"/>
                <a:ea typeface="DejaVu Sans"/>
                <a:cs typeface="DejaVu Sans"/>
              </a:defRPr>
            </a:pPr>
            <a:r>
              <a:rPr sz="3675" b="1">
                <a:solidFill>
                  <a:srgbClr val="17384A"/>
                </a:solidFill>
                <a:latin typeface="DejaVu Sans"/>
                <a:ea typeface="DejaVu Sans"/>
                <a:cs typeface="DejaVu Sans"/>
              </a:rPr>
              <a:t>Development can branch into specializations</a:t>
            </a:r>
          </a:p>
        </p:txBody>
      </p:sp>
      <p:sp>
        <p:nvSpPr>
          <p:cNvPr id="2" name="">
            <a:extLst xmlns:a="http://schemas.openxmlformats.org/drawingml/2006/main">
              <a:ext uri="{FF2B5EF4-FFF2-40B4-BE49-F238E27FC236}">
                <a16:creationId xmlns:a16="http://schemas.microsoft.com/office/drawing/2014/main" id="{ABBFA4EA-2621-4802-8D5C-1F892FD3C993}"/>
              </a:ext>
            </a:extLst>
          </p:cNvPr>
          <p:cNvSpPr>
            <a:spLocks xmlns:a="http://schemas.openxmlformats.org/drawingml/2006/main" noGrp="1"/>
          </p:cNvSpPr>
          <p:nvPr/>
        </p:nvSpPr>
        <p:spPr>
          <a:xfrm xmlns:a="http://schemas.openxmlformats.org/drawingml/2006/main">
            <a:off x="542925" y="1123950"/>
            <a:ext cx="1400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576773"/>
                </a:solidFill>
                <a:latin typeface="DejaVu Sans"/>
                <a:ea typeface="DejaVu Sans"/>
                <a:cs typeface="DejaVu Sans"/>
              </a:defRPr>
            </a:defPPr>
          </a:lstStyle>
          <a:p xmlns:a="http://schemas.openxmlformats.org/drawingml/2006/main">
            <a:pPr>
              <a:defRPr sz="2025" b="0">
                <a:solidFill>
                  <a:srgbClr val="576773"/>
                </a:solidFill>
                <a:latin typeface="DejaVu Sans"/>
                <a:ea typeface="DejaVu Sans"/>
                <a:cs typeface="DejaVu Sans"/>
              </a:defRPr>
            </a:pPr>
            <a:r>
              <a:rPr sz="2025" b="0">
                <a:solidFill>
                  <a:srgbClr val="576773"/>
                </a:solidFill>
                <a:latin typeface="DejaVu Sans"/>
                <a:ea typeface="DejaVu Sans"/>
                <a:cs typeface="DejaVu Sans"/>
              </a:rPr>
              <a:t>A shared early path can lead toward different job functions</a:t>
            </a:r>
          </a:p>
        </p:txBody>
      </p:sp>
      <p:pic>
        <p:nvPicPr>
          <p:cNvPr id="3" name="">
            <a:extLst xmlns:a="http://schemas.openxmlformats.org/drawingml/2006/main">
              <a:ext uri="{FF2B5EF4-FFF2-40B4-BE49-F238E27FC236}">
                <a16:creationId xmlns:a16="http://schemas.microsoft.com/office/drawing/2014/main" id="{BFF1F73E-85FB-402D-A4A0-D2AF21050DF6}"/>
              </a:ext>
            </a:extLst>
          </p:cNvPr>
          <p:cNvPicPr>
            <a:picLocks xmlns:a="http://schemas.openxmlformats.org/drawingml/2006/main" noChangeAspect="1"/>
          </p:cNvPicPr>
          <p:nvPr/>
        </p:nvPicPr>
        <p:blipFill>
          <a:blip xmlns:r="http://schemas.openxmlformats.org/officeDocument/2006/relationships" xmlns:a="http://schemas.openxmlformats.org/drawingml/2006/main" r:embed="R0778805916f6421f"/>
          <a:stretch xmlns:a="http://schemas.openxmlformats.org/drawingml/2006/main"/>
        </p:blipFill>
        <p:spPr>
          <a:xfrm xmlns:a="http://schemas.openxmlformats.org/drawingml/2006/main">
            <a:off x="564356" y="1828800"/>
            <a:ext cx="8643938" cy="5762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C085C86-8D7D-41F5-9DD1-AE8CB7F43046}"/>
              </a:ext>
            </a:extLst>
          </p:cNvPr>
          <p:cNvSpPr>
            <a:spLocks xmlns:a="http://schemas.openxmlformats.org/drawingml/2006/main" noGrp="1"/>
          </p:cNvSpPr>
          <p:nvPr/>
        </p:nvSpPr>
        <p:spPr>
          <a:xfrm xmlns:a="http://schemas.openxmlformats.org/drawingml/2006/main">
            <a:off x="9906000" y="2209800"/>
            <a:ext cx="4810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87C85"/>
                </a:solidFill>
                <a:latin typeface="DejaVu Sans"/>
                <a:ea typeface="DejaVu Sans"/>
                <a:cs typeface="DejaVu Sans"/>
              </a:defRPr>
            </a:defPPr>
          </a:lstStyle>
          <a:p xmlns:a="http://schemas.openxmlformats.org/drawingml/2006/main">
            <a:pPr>
              <a:defRPr sz="2325" b="1">
                <a:solidFill>
                  <a:srgbClr val="087C85"/>
                </a:solidFill>
                <a:latin typeface="DejaVu Sans"/>
                <a:ea typeface="DejaVu Sans"/>
                <a:cs typeface="DejaVu Sans"/>
              </a:defRPr>
            </a:pPr>
            <a:r>
              <a:rPr sz="2325" b="1">
                <a:solidFill>
                  <a:srgbClr val="087C85"/>
                </a:solidFill>
                <a:latin typeface="DejaVu Sans"/>
                <a:ea typeface="DejaVu Sans"/>
                <a:cs typeface="DejaVu Sans"/>
              </a:rPr>
              <a:t>Jobs resemble cell types</a:t>
            </a:r>
          </a:p>
        </p:txBody>
      </p:sp>
      <p:sp>
        <p:nvSpPr>
          <p:cNvPr id="5" name="">
            <a:extLst xmlns:a="http://schemas.openxmlformats.org/drawingml/2006/main">
              <a:ext uri="{FF2B5EF4-FFF2-40B4-BE49-F238E27FC236}">
                <a16:creationId xmlns:a16="http://schemas.microsoft.com/office/drawing/2014/main" id="{7E273646-7263-42FF-BAF4-7777F40DFFFB}"/>
              </a:ext>
            </a:extLst>
          </p:cNvPr>
          <p:cNvSpPr>
            <a:spLocks xmlns:a="http://schemas.openxmlformats.org/drawingml/2006/main" noGrp="1"/>
          </p:cNvSpPr>
          <p:nvPr/>
        </p:nvSpPr>
        <p:spPr>
          <a:xfrm xmlns:a="http://schemas.openxmlformats.org/drawingml/2006/main">
            <a:off x="9906000" y="2724150"/>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84A"/>
                </a:solidFill>
                <a:latin typeface="DejaVu Sans"/>
                <a:ea typeface="DejaVu Sans"/>
                <a:cs typeface="DejaVu Sans"/>
              </a:defRPr>
            </a:defPPr>
          </a:lstStyle>
          <a:p xmlns:a="http://schemas.openxmlformats.org/drawingml/2006/main">
            <a:pPr>
              <a:defRPr sz="2100" b="0">
                <a:solidFill>
                  <a:srgbClr val="17384A"/>
                </a:solidFill>
                <a:latin typeface="DejaVu Sans"/>
                <a:ea typeface="DejaVu Sans"/>
                <a:cs typeface="DejaVu Sans"/>
              </a:defRPr>
            </a:pPr>
            <a:r>
              <a:rPr sz="2100" b="0">
                <a:solidFill>
                  <a:srgbClr val="17384A"/>
                </a:solidFill>
                <a:latin typeface="DejaVu Sans"/>
                <a:ea typeface="DejaVu Sans"/>
                <a:cs typeface="DejaVu Sans"/>
              </a:rPr>
              <a:t>Some people become doctors. Others become engineers.</a:t>
            </a:r>
          </a:p>
        </p:txBody>
      </p:sp>
      <p:sp>
        <p:nvSpPr>
          <p:cNvPr id="6" name="">
            <a:extLst xmlns:a="http://schemas.openxmlformats.org/drawingml/2006/main">
              <a:ext uri="{FF2B5EF4-FFF2-40B4-BE49-F238E27FC236}">
                <a16:creationId xmlns:a16="http://schemas.microsoft.com/office/drawing/2014/main" id="{BB477F13-7F13-4F9B-B6D3-484D997A3767}"/>
              </a:ext>
            </a:extLst>
          </p:cNvPr>
          <p:cNvSpPr>
            <a:spLocks xmlns:a="http://schemas.openxmlformats.org/drawingml/2006/main" noGrp="1"/>
          </p:cNvSpPr>
          <p:nvPr/>
        </p:nvSpPr>
        <p:spPr>
          <a:xfrm xmlns:a="http://schemas.openxmlformats.org/drawingml/2006/main">
            <a:off x="9906000" y="3876675"/>
            <a:ext cx="4810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87C85"/>
                </a:solidFill>
                <a:latin typeface="DejaVu Sans"/>
                <a:ea typeface="DejaVu Sans"/>
                <a:cs typeface="DejaVu Sans"/>
              </a:defRPr>
            </a:defPPr>
          </a:lstStyle>
          <a:p xmlns:a="http://schemas.openxmlformats.org/drawingml/2006/main">
            <a:pPr>
              <a:defRPr sz="2325" b="1">
                <a:solidFill>
                  <a:srgbClr val="087C85"/>
                </a:solidFill>
                <a:latin typeface="DejaVu Sans"/>
                <a:ea typeface="DejaVu Sans"/>
                <a:cs typeface="DejaVu Sans"/>
              </a:defRPr>
            </a:pPr>
            <a:r>
              <a:rPr sz="2325" b="1">
                <a:solidFill>
                  <a:srgbClr val="087C85"/>
                </a:solidFill>
                <a:latin typeface="DejaVu Sans"/>
                <a:ea typeface="DejaVu Sans"/>
                <a:cs typeface="DejaVu Sans"/>
              </a:rPr>
              <a:t>Traits cross career paths</a:t>
            </a:r>
          </a:p>
        </p:txBody>
      </p:sp>
      <p:sp>
        <p:nvSpPr>
          <p:cNvPr id="7" name="">
            <a:extLst xmlns:a="http://schemas.openxmlformats.org/drawingml/2006/main">
              <a:ext uri="{FF2B5EF4-FFF2-40B4-BE49-F238E27FC236}">
                <a16:creationId xmlns:a16="http://schemas.microsoft.com/office/drawing/2014/main" id="{01ADC33A-EC11-4D6C-BF46-611E5BA48C67}"/>
              </a:ext>
            </a:extLst>
          </p:cNvPr>
          <p:cNvSpPr>
            <a:spLocks xmlns:a="http://schemas.openxmlformats.org/drawingml/2006/main" noGrp="1"/>
          </p:cNvSpPr>
          <p:nvPr/>
        </p:nvSpPr>
        <p:spPr>
          <a:xfrm xmlns:a="http://schemas.openxmlformats.org/drawingml/2006/main">
            <a:off x="9906000" y="4391025"/>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84A"/>
                </a:solidFill>
                <a:latin typeface="DejaVu Sans"/>
                <a:ea typeface="DejaVu Sans"/>
                <a:cs typeface="DejaVu Sans"/>
              </a:defRPr>
            </a:defPPr>
          </a:lstStyle>
          <a:p xmlns:a="http://schemas.openxmlformats.org/drawingml/2006/main">
            <a:pPr>
              <a:defRPr sz="2100" b="0">
                <a:solidFill>
                  <a:srgbClr val="17384A"/>
                </a:solidFill>
                <a:latin typeface="DejaVu Sans"/>
                <a:ea typeface="DejaVu Sans"/>
                <a:cs typeface="DejaVu Sans"/>
              </a:defRPr>
            </a:pPr>
            <a:r>
              <a:rPr sz="2100" b="0">
                <a:solidFill>
                  <a:srgbClr val="17384A"/>
                </a:solidFill>
                <a:latin typeface="DejaVu Sans"/>
                <a:ea typeface="DejaVu Sans"/>
                <a:cs typeface="DejaVu Sans"/>
              </a:rPr>
              <a:t>Strong math performance can occur on both branches.</a:t>
            </a:r>
          </a:p>
        </p:txBody>
      </p:sp>
      <p:sp>
        <p:nvSpPr>
          <p:cNvPr id="8" name="">
            <a:extLst xmlns:a="http://schemas.openxmlformats.org/drawingml/2006/main">
              <a:ext uri="{FF2B5EF4-FFF2-40B4-BE49-F238E27FC236}">
                <a16:creationId xmlns:a16="http://schemas.microsoft.com/office/drawing/2014/main" id="{41516CCF-01C1-4AC5-812D-871BA19FB0FE}"/>
              </a:ext>
            </a:extLst>
          </p:cNvPr>
          <p:cNvSpPr>
            <a:spLocks xmlns:a="http://schemas.openxmlformats.org/drawingml/2006/main" noGrp="1"/>
          </p:cNvSpPr>
          <p:nvPr/>
        </p:nvSpPr>
        <p:spPr>
          <a:xfrm xmlns:a="http://schemas.openxmlformats.org/drawingml/2006/main">
            <a:off x="9906000" y="5543550"/>
            <a:ext cx="4810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87C85"/>
                </a:solidFill>
                <a:latin typeface="DejaVu Sans"/>
                <a:ea typeface="DejaVu Sans"/>
                <a:cs typeface="DejaVu Sans"/>
              </a:defRPr>
            </a:defPPr>
          </a:lstStyle>
          <a:p xmlns:a="http://schemas.openxmlformats.org/drawingml/2006/main">
            <a:pPr>
              <a:defRPr sz="2325" b="1">
                <a:solidFill>
                  <a:srgbClr val="087C85"/>
                </a:solidFill>
                <a:latin typeface="DejaVu Sans"/>
                <a:ea typeface="DejaVu Sans"/>
                <a:cs typeface="DejaVu Sans"/>
              </a:defRPr>
            </a:pPr>
            <a:r>
              <a:rPr sz="2325" b="1">
                <a:solidFill>
                  <a:srgbClr val="087C85"/>
                </a:solidFill>
                <a:latin typeface="DejaVu Sans"/>
                <a:ea typeface="DejaVu Sans"/>
                <a:cs typeface="DejaVu Sans"/>
              </a:rPr>
              <a:t>Distance and destination</a:t>
            </a:r>
          </a:p>
        </p:txBody>
      </p:sp>
      <p:sp>
        <p:nvSpPr>
          <p:cNvPr id="9" name="">
            <a:extLst xmlns:a="http://schemas.openxmlformats.org/drawingml/2006/main">
              <a:ext uri="{FF2B5EF4-FFF2-40B4-BE49-F238E27FC236}">
                <a16:creationId xmlns:a16="http://schemas.microsoft.com/office/drawing/2014/main" id="{BEFDF251-443D-4CCD-BAE8-DD4184843D88}"/>
              </a:ext>
            </a:extLst>
          </p:cNvPr>
          <p:cNvSpPr>
            <a:spLocks xmlns:a="http://schemas.openxmlformats.org/drawingml/2006/main" noGrp="1"/>
          </p:cNvSpPr>
          <p:nvPr/>
        </p:nvSpPr>
        <p:spPr>
          <a:xfrm xmlns:a="http://schemas.openxmlformats.org/drawingml/2006/main">
            <a:off x="9906000" y="6057900"/>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84A"/>
                </a:solidFill>
                <a:latin typeface="DejaVu Sans"/>
                <a:ea typeface="DejaVu Sans"/>
                <a:cs typeface="DejaVu Sans"/>
              </a:defRPr>
            </a:defPPr>
          </a:lstStyle>
          <a:p xmlns:a="http://schemas.openxmlformats.org/drawingml/2006/main">
            <a:pPr>
              <a:defRPr sz="2100" b="0">
                <a:solidFill>
                  <a:srgbClr val="17384A"/>
                </a:solidFill>
                <a:latin typeface="DejaVu Sans"/>
                <a:ea typeface="DejaVu Sans"/>
                <a:cs typeface="DejaVu Sans"/>
              </a:defRPr>
            </a:pPr>
            <a:r>
              <a:rPr sz="2100" b="0">
                <a:solidFill>
                  <a:srgbClr val="17384A"/>
                </a:solidFill>
                <a:latin typeface="DejaVu Sans"/>
                <a:ea typeface="DejaVu Sans"/>
                <a:cs typeface="DejaVu Sans"/>
              </a:rPr>
              <a:t>People on different paths can be equally far from the starting point.</a:t>
            </a:r>
          </a:p>
        </p:txBody>
      </p:sp>
      <p:sp>
        <p:nvSpPr>
          <p:cNvPr id="10" name="">
            <a:extLst xmlns:a="http://schemas.openxmlformats.org/drawingml/2006/main">
              <a:ext uri="{FF2B5EF4-FFF2-40B4-BE49-F238E27FC236}">
                <a16:creationId xmlns:a16="http://schemas.microsoft.com/office/drawing/2014/main" id="{F6C075C3-A520-4CA5-9253-60C8652E6442}"/>
              </a:ext>
            </a:extLst>
          </p:cNvPr>
          <p:cNvSpPr>
            <a:spLocks xmlns:a="http://schemas.openxmlformats.org/drawingml/2006/main" noGrp="1"/>
          </p:cNvSpPr>
          <p:nvPr/>
        </p:nvSpPr>
        <p:spPr>
          <a:xfrm xmlns:a="http://schemas.openxmlformats.org/drawingml/2006/main">
            <a:off x="542925" y="769620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1">
                <a:solidFill>
                  <a:srgbClr val="087C85"/>
                </a:solidFill>
                <a:latin typeface="DejaVu Sans"/>
                <a:ea typeface="DejaVu Sans"/>
                <a:cs typeface="DejaVu Sans"/>
              </a:defRPr>
            </a:defPPr>
          </a:lstStyle>
          <a:p xmlns:a="http://schemas.openxmlformats.org/drawingml/2006/main">
            <a:pPr>
              <a:defRPr sz="1500" b="1">
                <a:solidFill>
                  <a:srgbClr val="087C85"/>
                </a:solidFill>
                <a:latin typeface="DejaVu Sans"/>
                <a:ea typeface="DejaVu Sans"/>
                <a:cs typeface="DejaVu Sans"/>
              </a:defRPr>
            </a:pPr>
            <a:r>
              <a:rPr sz="1500" b="1">
                <a:solidFill>
                  <a:srgbClr val="087C85"/>
                </a:solidFill>
                <a:latin typeface="DejaVu Sans"/>
                <a:ea typeface="DejaVu Sans"/>
                <a:cs typeface="DejaVu Sans"/>
              </a:rPr>
              <a:t>IN PSEUDOEMBED</a:t>
            </a:r>
          </a:p>
        </p:txBody>
      </p:sp>
      <p:sp>
        <p:nvSpPr>
          <p:cNvPr id="11" name="">
            <a:extLst xmlns:a="http://schemas.openxmlformats.org/drawingml/2006/main">
              <a:ext uri="{FF2B5EF4-FFF2-40B4-BE49-F238E27FC236}">
                <a16:creationId xmlns:a16="http://schemas.microsoft.com/office/drawing/2014/main" id="{35C867A9-8EF3-417A-A8FF-DD6994DFAB5D}"/>
              </a:ext>
            </a:extLst>
          </p:cNvPr>
          <p:cNvSpPr>
            <a:spLocks xmlns:a="http://schemas.openxmlformats.org/drawingml/2006/main" noGrp="1"/>
          </p:cNvSpPr>
          <p:nvPr/>
        </p:nvSpPr>
        <p:spPr>
          <a:xfrm xmlns:a="http://schemas.openxmlformats.org/drawingml/2006/main">
            <a:off x="3352800" y="76771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7384A"/>
                </a:solidFill>
                <a:latin typeface="DejaVu Sans"/>
                <a:ea typeface="DejaVu Sans"/>
                <a:cs typeface="DejaVu Sans"/>
              </a:defRPr>
            </a:defPPr>
          </a:lstStyle>
          <a:p xmlns:a="http://schemas.openxmlformats.org/drawingml/2006/main">
            <a:pPr>
              <a:defRPr sz="1875" b="0">
                <a:solidFill>
                  <a:srgbClr val="17384A"/>
                </a:solidFill>
                <a:latin typeface="DejaVu Sans"/>
                <a:ea typeface="DejaVu Sans"/>
                <a:cs typeface="DejaVu Sans"/>
              </a:defRPr>
            </a:pPr>
            <a:r>
              <a:rPr sz="1875" b="0">
                <a:solidFill>
                  <a:srgbClr val="17384A"/>
                </a:solidFill>
                <a:latin typeface="DejaVu Sans"/>
                <a:ea typeface="DejaVu Sans"/>
                <a:cs typeface="DejaVu Sans"/>
              </a:rPr>
              <a:t>Cell lineages can branch. Pseudotime measures root distance; identifying a branch needs additional information.</a:t>
            </a:r>
          </a:p>
        </p:txBody>
      </p:sp>
      <p:sp>
        <p:nvSpPr>
          <p:cNvPr id="12" name="">
            <a:extLst xmlns:a="http://schemas.openxmlformats.org/drawingml/2006/main">
              <a:ext uri="{FF2B5EF4-FFF2-40B4-BE49-F238E27FC236}">
                <a16:creationId xmlns:a16="http://schemas.microsoft.com/office/drawing/2014/main" id="{2879A903-B51A-413C-AB57-F8A9051D408D}"/>
              </a:ext>
            </a:extLst>
          </p:cNvPr>
          <p:cNvSpPr>
            <a:spLocks xmlns:a="http://schemas.openxmlformats.org/drawingml/2006/main" noGrp="1"/>
          </p:cNvSpPr>
          <p:nvPr/>
        </p:nvSpPr>
        <p:spPr>
          <a:xfrm xmlns:a="http://schemas.openxmlformats.org/drawingml/2006/main">
            <a:off x="14592300" y="808672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576773"/>
                </a:solidFill>
                <a:latin typeface="DejaVu Sans"/>
                <a:ea typeface="DejaVu Sans"/>
                <a:cs typeface="DejaVu Sans"/>
              </a:defRPr>
            </a:defPPr>
          </a:lstStyle>
          <a:p xmlns:a="http://schemas.openxmlformats.org/drawingml/2006/main">
            <a:pPr>
              <a:defRPr sz="1275" b="0">
                <a:solidFill>
                  <a:srgbClr val="576773"/>
                </a:solidFill>
                <a:latin typeface="DejaVu Sans"/>
                <a:ea typeface="DejaVu Sans"/>
                <a:cs typeface="DejaVu Sans"/>
              </a:defRPr>
            </a:pPr>
            <a:r>
              <a:rPr sz="1275" b="0">
                <a:solidFill>
                  <a:srgbClr val="576773"/>
                </a:solidFill>
                <a:latin typeface="DejaVu Sans"/>
                <a:ea typeface="DejaVu Sans"/>
                <a:cs typeface="DejaVu Sans"/>
              </a:rPr>
              <a:t>06</a:t>
            </a:r>
          </a:p>
        </p:txBody>
      </p:sp>
    </p:spTree>
    <p:extLst>
      <p:ext uri="{BB962C8B-B14F-4D97-AF65-F5344CB8AC3E}">
        <p14:creationId xmlns:p14="http://schemas.microsoft.com/office/powerpoint/2010/main" val="143959600"/>
      </p:ext>
    </p:extLst>
  </p:cSld>
</p:sld>
</file>

<file path=ppt/slides/slide7.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19585DC-B5A6-404C-9C24-F4232C353D8C}"/>
              </a:ext>
            </a:extLst>
          </p:cNvPr>
          <p:cNvSpPr>
            <a:spLocks xmlns:a="http://schemas.openxmlformats.org/drawingml/2006/main" noGrp="1"/>
          </p:cNvSpPr>
          <p:nvPr/>
        </p:nvSpPr>
        <p:spPr>
          <a:xfrm xmlns:a="http://schemas.openxmlformats.org/drawingml/2006/main">
            <a:off x="514350" y="333375"/>
            <a:ext cx="14192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675" b="1">
                <a:solidFill>
                  <a:srgbClr val="17384A"/>
                </a:solidFill>
                <a:latin typeface="DejaVu Sans"/>
                <a:ea typeface="DejaVu Sans"/>
                <a:cs typeface="DejaVu Sans"/>
              </a:defRPr>
            </a:defPPr>
          </a:lstStyle>
          <a:p xmlns:a="http://schemas.openxmlformats.org/drawingml/2006/main">
            <a:pPr>
              <a:defRPr sz="3675" b="1">
                <a:solidFill>
                  <a:srgbClr val="17384A"/>
                </a:solidFill>
                <a:latin typeface="DejaVu Sans"/>
                <a:ea typeface="DejaVu Sans"/>
                <a:cs typeface="DejaVu Sans"/>
              </a:defRPr>
            </a:pPr>
            <a:r>
              <a:rPr sz="3675" b="1">
                <a:solidFill>
                  <a:srgbClr val="17384A"/>
                </a:solidFill>
                <a:latin typeface="DejaVu Sans"/>
                <a:ea typeface="DejaVu Sans"/>
                <a:cs typeface="DejaVu Sans"/>
              </a:rPr>
              <a:t>Named groups explain the progression</a:t>
            </a:r>
          </a:p>
        </p:txBody>
      </p:sp>
      <p:sp>
        <p:nvSpPr>
          <p:cNvPr id="2" name="">
            <a:extLst xmlns:a="http://schemas.openxmlformats.org/drawingml/2006/main">
              <a:ext uri="{FF2B5EF4-FFF2-40B4-BE49-F238E27FC236}">
                <a16:creationId xmlns:a16="http://schemas.microsoft.com/office/drawing/2014/main" id="{23EC55E2-0FFC-4396-9389-A1B1DCC8BDAD}"/>
              </a:ext>
            </a:extLst>
          </p:cNvPr>
          <p:cNvSpPr>
            <a:spLocks xmlns:a="http://schemas.openxmlformats.org/drawingml/2006/main" noGrp="1"/>
          </p:cNvSpPr>
          <p:nvPr/>
        </p:nvSpPr>
        <p:spPr>
          <a:xfrm xmlns:a="http://schemas.openxmlformats.org/drawingml/2006/main">
            <a:off x="542925" y="1123950"/>
            <a:ext cx="1400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576773"/>
                </a:solidFill>
                <a:latin typeface="DejaVu Sans"/>
                <a:ea typeface="DejaVu Sans"/>
                <a:cs typeface="DejaVu Sans"/>
              </a:defRPr>
            </a:defPPr>
          </a:lstStyle>
          <a:p xmlns:a="http://schemas.openxmlformats.org/drawingml/2006/main">
            <a:pPr>
              <a:defRPr sz="2025" b="0">
                <a:solidFill>
                  <a:srgbClr val="576773"/>
                </a:solidFill>
                <a:latin typeface="DejaVu Sans"/>
                <a:ea typeface="DejaVu Sans"/>
                <a:cs typeface="DejaVu Sans"/>
              </a:defRPr>
            </a:pPr>
            <a:r>
              <a:rPr sz="2025" b="0">
                <a:solidFill>
                  <a:srgbClr val="576773"/>
                </a:solidFill>
                <a:latin typeface="DejaVu Sans"/>
                <a:ea typeface="DejaVu Sans"/>
                <a:cs typeface="DejaVu Sans"/>
              </a:rPr>
              <a:t>Traits define groups. Group positions help interpret the map.</a:t>
            </a:r>
          </a:p>
        </p:txBody>
      </p:sp>
      <p:pic>
        <p:nvPicPr>
          <p:cNvPr id="3" name="">
            <a:extLst xmlns:a="http://schemas.openxmlformats.org/drawingml/2006/main">
              <a:ext uri="{FF2B5EF4-FFF2-40B4-BE49-F238E27FC236}">
                <a16:creationId xmlns:a16="http://schemas.microsoft.com/office/drawing/2014/main" id="{0E9A6C91-664A-432E-9D48-3431A19F3971}"/>
              </a:ext>
            </a:extLst>
          </p:cNvPr>
          <p:cNvPicPr>
            <a:picLocks xmlns:a="http://schemas.openxmlformats.org/drawingml/2006/main" noChangeAspect="1"/>
          </p:cNvPicPr>
          <p:nvPr/>
        </p:nvPicPr>
        <p:blipFill>
          <a:blip xmlns:r="http://schemas.openxmlformats.org/officeDocument/2006/relationships" xmlns:a="http://schemas.openxmlformats.org/drawingml/2006/main" r:embed="Rd03ebb84e5e44e0f"/>
          <a:stretch xmlns:a="http://schemas.openxmlformats.org/drawingml/2006/main"/>
        </p:blipFill>
        <p:spPr>
          <a:xfrm xmlns:a="http://schemas.openxmlformats.org/drawingml/2006/main">
            <a:off x="564356" y="1828800"/>
            <a:ext cx="8643938" cy="5762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A964142-5F39-49A3-87CB-23BC039364C3}"/>
              </a:ext>
            </a:extLst>
          </p:cNvPr>
          <p:cNvSpPr>
            <a:spLocks xmlns:a="http://schemas.openxmlformats.org/drawingml/2006/main" noGrp="1"/>
          </p:cNvSpPr>
          <p:nvPr/>
        </p:nvSpPr>
        <p:spPr>
          <a:xfrm xmlns:a="http://schemas.openxmlformats.org/drawingml/2006/main">
            <a:off x="9906000" y="2209800"/>
            <a:ext cx="4810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87C85"/>
                </a:solidFill>
                <a:latin typeface="DejaVu Sans"/>
                <a:ea typeface="DejaVu Sans"/>
                <a:cs typeface="DejaVu Sans"/>
              </a:defRPr>
            </a:defPPr>
          </a:lstStyle>
          <a:p xmlns:a="http://schemas.openxmlformats.org/drawingml/2006/main">
            <a:pPr>
              <a:defRPr sz="2325" b="1">
                <a:solidFill>
                  <a:srgbClr val="087C85"/>
                </a:solidFill>
                <a:latin typeface="DejaVu Sans"/>
                <a:ea typeface="DejaVu Sans"/>
                <a:cs typeface="DejaVu Sans"/>
              </a:defRPr>
            </a:pPr>
            <a:r>
              <a:rPr sz="2325" b="1">
                <a:solidFill>
                  <a:srgbClr val="087C85"/>
                </a:solidFill>
                <a:latin typeface="DejaVu Sans"/>
                <a:ea typeface="DejaVu Sans"/>
                <a:cs typeface="DejaVu Sans"/>
              </a:rPr>
              <a:t>A trait and a group</a:t>
            </a:r>
          </a:p>
        </p:txBody>
      </p:sp>
      <p:sp>
        <p:nvSpPr>
          <p:cNvPr id="5" name="">
            <a:extLst xmlns:a="http://schemas.openxmlformats.org/drawingml/2006/main">
              <a:ext uri="{FF2B5EF4-FFF2-40B4-BE49-F238E27FC236}">
                <a16:creationId xmlns:a16="http://schemas.microsoft.com/office/drawing/2014/main" id="{608C7BCF-637F-4DF9-90E0-D535727B486F}"/>
              </a:ext>
            </a:extLst>
          </p:cNvPr>
          <p:cNvSpPr>
            <a:spLocks xmlns:a="http://schemas.openxmlformats.org/drawingml/2006/main" noGrp="1"/>
          </p:cNvSpPr>
          <p:nvPr/>
        </p:nvSpPr>
        <p:spPr>
          <a:xfrm xmlns:a="http://schemas.openxmlformats.org/drawingml/2006/main">
            <a:off x="9906000" y="2724150"/>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84A"/>
                </a:solidFill>
                <a:latin typeface="DejaVu Sans"/>
                <a:ea typeface="DejaVu Sans"/>
                <a:cs typeface="DejaVu Sans"/>
              </a:defRPr>
            </a:defPPr>
          </a:lstStyle>
          <a:p xmlns:a="http://schemas.openxmlformats.org/drawingml/2006/main">
            <a:pPr>
              <a:defRPr sz="2100" b="0">
                <a:solidFill>
                  <a:srgbClr val="17384A"/>
                </a:solidFill>
                <a:latin typeface="DejaVu Sans"/>
                <a:ea typeface="DejaVu Sans"/>
                <a:cs typeface="DejaVu Sans"/>
              </a:defRPr>
            </a:pPr>
            <a:r>
              <a:rPr sz="2100" b="0">
                <a:solidFill>
                  <a:srgbClr val="17384A"/>
                </a:solidFill>
                <a:latin typeface="DejaVu Sans"/>
                <a:ea typeface="DejaVu Sans"/>
                <a:cs typeface="DejaVu Sans"/>
              </a:rPr>
              <a:t>Math performance is a trait. People strong at math form a hyperedge.</a:t>
            </a:r>
          </a:p>
        </p:txBody>
      </p:sp>
      <p:sp>
        <p:nvSpPr>
          <p:cNvPr id="6" name="">
            <a:extLst xmlns:a="http://schemas.openxmlformats.org/drawingml/2006/main">
              <a:ext uri="{FF2B5EF4-FFF2-40B4-BE49-F238E27FC236}">
                <a16:creationId xmlns:a16="http://schemas.microsoft.com/office/drawing/2014/main" id="{26052319-0C9E-4AA5-BA48-FE5DC9B13FA1}"/>
              </a:ext>
            </a:extLst>
          </p:cNvPr>
          <p:cNvSpPr>
            <a:spLocks xmlns:a="http://schemas.openxmlformats.org/drawingml/2006/main" noGrp="1"/>
          </p:cNvSpPr>
          <p:nvPr/>
        </p:nvSpPr>
        <p:spPr>
          <a:xfrm xmlns:a="http://schemas.openxmlformats.org/drawingml/2006/main">
            <a:off x="9906000" y="3876675"/>
            <a:ext cx="4810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87C85"/>
                </a:solidFill>
                <a:latin typeface="DejaVu Sans"/>
                <a:ea typeface="DejaVu Sans"/>
                <a:cs typeface="DejaVu Sans"/>
              </a:defRPr>
            </a:defPPr>
          </a:lstStyle>
          <a:p xmlns:a="http://schemas.openxmlformats.org/drawingml/2006/main">
            <a:pPr>
              <a:defRPr sz="2325" b="1">
                <a:solidFill>
                  <a:srgbClr val="087C85"/>
                </a:solidFill>
                <a:latin typeface="DejaVu Sans"/>
                <a:ea typeface="DejaVu Sans"/>
                <a:cs typeface="DejaVu Sans"/>
              </a:defRPr>
            </a:pPr>
            <a:r>
              <a:rPr sz="2325" b="1">
                <a:solidFill>
                  <a:srgbClr val="087C85"/>
                </a:solidFill>
                <a:latin typeface="DejaVu Sans"/>
                <a:ea typeface="DejaVu Sans"/>
                <a:cs typeface="DejaVu Sans"/>
              </a:rPr>
              <a:t>Contribution</a:t>
            </a:r>
          </a:p>
        </p:txBody>
      </p:sp>
      <p:sp>
        <p:nvSpPr>
          <p:cNvPr id="7" name="">
            <a:extLst xmlns:a="http://schemas.openxmlformats.org/drawingml/2006/main">
              <a:ext uri="{FF2B5EF4-FFF2-40B4-BE49-F238E27FC236}">
                <a16:creationId xmlns:a16="http://schemas.microsoft.com/office/drawing/2014/main" id="{CA0D6B0B-F935-449F-AA3F-F840CFED5DB0}"/>
              </a:ext>
            </a:extLst>
          </p:cNvPr>
          <p:cNvSpPr>
            <a:spLocks xmlns:a="http://schemas.openxmlformats.org/drawingml/2006/main" noGrp="1"/>
          </p:cNvSpPr>
          <p:nvPr/>
        </p:nvSpPr>
        <p:spPr>
          <a:xfrm xmlns:a="http://schemas.openxmlformats.org/drawingml/2006/main">
            <a:off x="9906000" y="4391025"/>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84A"/>
                </a:solidFill>
                <a:latin typeface="DejaVu Sans"/>
                <a:ea typeface="DejaVu Sans"/>
                <a:cs typeface="DejaVu Sans"/>
              </a:defRPr>
            </a:defPPr>
          </a:lstStyle>
          <a:p xmlns:a="http://schemas.openxmlformats.org/drawingml/2006/main">
            <a:pPr>
              <a:defRPr sz="2100" b="0">
                <a:solidFill>
                  <a:srgbClr val="17384A"/>
                </a:solidFill>
                <a:latin typeface="DejaVu Sans"/>
                <a:ea typeface="DejaVu Sans"/>
                <a:cs typeface="DejaVu Sans"/>
              </a:defRPr>
            </a:pPr>
            <a:r>
              <a:rPr sz="2100" b="0">
                <a:solidFill>
                  <a:srgbClr val="17384A"/>
                </a:solidFill>
                <a:latin typeface="DejaVu Sans"/>
                <a:ea typeface="DejaVu Sans"/>
                <a:cs typeface="DejaVu Sans"/>
              </a:rPr>
              <a:t>How strongly does that group align with a fitted spectral axis?</a:t>
            </a:r>
          </a:p>
        </p:txBody>
      </p:sp>
      <p:sp>
        <p:nvSpPr>
          <p:cNvPr id="8" name="">
            <a:extLst xmlns:a="http://schemas.openxmlformats.org/drawingml/2006/main">
              <a:ext uri="{FF2B5EF4-FFF2-40B4-BE49-F238E27FC236}">
                <a16:creationId xmlns:a16="http://schemas.microsoft.com/office/drawing/2014/main" id="{679B4647-E5A0-42B1-A861-FC9878D624CD}"/>
              </a:ext>
            </a:extLst>
          </p:cNvPr>
          <p:cNvSpPr>
            <a:spLocks xmlns:a="http://schemas.openxmlformats.org/drawingml/2006/main" noGrp="1"/>
          </p:cNvSpPr>
          <p:nvPr/>
        </p:nvSpPr>
        <p:spPr>
          <a:xfrm xmlns:a="http://schemas.openxmlformats.org/drawingml/2006/main">
            <a:off x="9906000" y="5543550"/>
            <a:ext cx="4810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87C85"/>
                </a:solidFill>
                <a:latin typeface="DejaVu Sans"/>
                <a:ea typeface="DejaVu Sans"/>
                <a:cs typeface="DejaVu Sans"/>
              </a:defRPr>
            </a:defPPr>
          </a:lstStyle>
          <a:p xmlns:a="http://schemas.openxmlformats.org/drawingml/2006/main">
            <a:pPr>
              <a:defRPr sz="2325" b="1">
                <a:solidFill>
                  <a:srgbClr val="087C85"/>
                </a:solidFill>
                <a:latin typeface="DejaVu Sans"/>
                <a:ea typeface="DejaVu Sans"/>
                <a:cs typeface="DejaVu Sans"/>
              </a:defRPr>
            </a:pPr>
            <a:r>
              <a:rPr sz="2325" b="1">
                <a:solidFill>
                  <a:srgbClr val="087C85"/>
                </a:solidFill>
                <a:latin typeface="DejaVu Sans"/>
                <a:ea typeface="DejaVu Sans"/>
                <a:cs typeface="DejaVu Sans"/>
              </a:rPr>
              <a:t>“Onset” in the tutorial</a:t>
            </a:r>
          </a:p>
        </p:txBody>
      </p:sp>
      <p:sp>
        <p:nvSpPr>
          <p:cNvPr id="9" name="">
            <a:extLst xmlns:a="http://schemas.openxmlformats.org/drawingml/2006/main">
              <a:ext uri="{FF2B5EF4-FFF2-40B4-BE49-F238E27FC236}">
                <a16:creationId xmlns:a16="http://schemas.microsoft.com/office/drawing/2014/main" id="{D705E830-B1EC-4F94-82A7-D961CAC87AE2}"/>
              </a:ext>
            </a:extLst>
          </p:cNvPr>
          <p:cNvSpPr>
            <a:spLocks xmlns:a="http://schemas.openxmlformats.org/drawingml/2006/main" noGrp="1"/>
          </p:cNvSpPr>
          <p:nvPr/>
        </p:nvSpPr>
        <p:spPr>
          <a:xfrm xmlns:a="http://schemas.openxmlformats.org/drawingml/2006/main">
            <a:off x="9906000" y="6057900"/>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84A"/>
                </a:solidFill>
                <a:latin typeface="DejaVu Sans"/>
                <a:ea typeface="DejaVu Sans"/>
                <a:cs typeface="DejaVu Sans"/>
              </a:defRPr>
            </a:defPPr>
          </a:lstStyle>
          <a:p xmlns:a="http://schemas.openxmlformats.org/drawingml/2006/main">
            <a:pPr>
              <a:defRPr sz="2100" b="0">
                <a:solidFill>
                  <a:srgbClr val="17384A"/>
                </a:solidFill>
                <a:latin typeface="DejaVu Sans"/>
                <a:ea typeface="DejaVu Sans"/>
                <a:cs typeface="DejaVu Sans"/>
              </a:defRPr>
            </a:pPr>
            <a:r>
              <a:rPr sz="2100" b="0">
                <a:solidFill>
                  <a:srgbClr val="17384A"/>
                </a:solidFill>
                <a:latin typeface="DejaVu Sans"/>
                <a:ea typeface="DejaVu Sans"/>
                <a:cs typeface="DejaVu Sans"/>
              </a:rPr>
              <a:t>The group’s mean pseudotime describes its typical position.</a:t>
            </a:r>
          </a:p>
        </p:txBody>
      </p:sp>
      <p:sp>
        <p:nvSpPr>
          <p:cNvPr id="10" name="">
            <a:extLst xmlns:a="http://schemas.openxmlformats.org/drawingml/2006/main">
              <a:ext uri="{FF2B5EF4-FFF2-40B4-BE49-F238E27FC236}">
                <a16:creationId xmlns:a16="http://schemas.microsoft.com/office/drawing/2014/main" id="{0D6B5350-01CA-4C28-9AA9-7B3DFB1935E0}"/>
              </a:ext>
            </a:extLst>
          </p:cNvPr>
          <p:cNvSpPr>
            <a:spLocks xmlns:a="http://schemas.openxmlformats.org/drawingml/2006/main" noGrp="1"/>
          </p:cNvSpPr>
          <p:nvPr/>
        </p:nvSpPr>
        <p:spPr>
          <a:xfrm xmlns:a="http://schemas.openxmlformats.org/drawingml/2006/main">
            <a:off x="542925" y="769620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1">
                <a:solidFill>
                  <a:srgbClr val="087C85"/>
                </a:solidFill>
                <a:latin typeface="DejaVu Sans"/>
                <a:ea typeface="DejaVu Sans"/>
                <a:cs typeface="DejaVu Sans"/>
              </a:defRPr>
            </a:defPPr>
          </a:lstStyle>
          <a:p xmlns:a="http://schemas.openxmlformats.org/drawingml/2006/main">
            <a:pPr>
              <a:defRPr sz="1500" b="1">
                <a:solidFill>
                  <a:srgbClr val="087C85"/>
                </a:solidFill>
                <a:latin typeface="DejaVu Sans"/>
                <a:ea typeface="DejaVu Sans"/>
                <a:cs typeface="DejaVu Sans"/>
              </a:defRPr>
            </a:pPr>
            <a:r>
              <a:rPr sz="1500" b="1">
                <a:solidFill>
                  <a:srgbClr val="087C85"/>
                </a:solidFill>
                <a:latin typeface="DejaVu Sans"/>
                <a:ea typeface="DejaVu Sans"/>
                <a:cs typeface="DejaVu Sans"/>
              </a:rPr>
              <a:t>IN PSEUDOEMBED</a:t>
            </a:r>
          </a:p>
        </p:txBody>
      </p:sp>
      <p:sp>
        <p:nvSpPr>
          <p:cNvPr id="11" name="">
            <a:extLst xmlns:a="http://schemas.openxmlformats.org/drawingml/2006/main">
              <a:ext uri="{FF2B5EF4-FFF2-40B4-BE49-F238E27FC236}">
                <a16:creationId xmlns:a16="http://schemas.microsoft.com/office/drawing/2014/main" id="{819ADB9E-B150-4421-B09C-E19EF7FC4259}"/>
              </a:ext>
            </a:extLst>
          </p:cNvPr>
          <p:cNvSpPr>
            <a:spLocks xmlns:a="http://schemas.openxmlformats.org/drawingml/2006/main" noGrp="1"/>
          </p:cNvSpPr>
          <p:nvPr/>
        </p:nvSpPr>
        <p:spPr>
          <a:xfrm xmlns:a="http://schemas.openxmlformats.org/drawingml/2006/main">
            <a:off x="3352800" y="76771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7384A"/>
                </a:solidFill>
                <a:latin typeface="DejaVu Sans"/>
                <a:ea typeface="DejaVu Sans"/>
                <a:cs typeface="DejaVu Sans"/>
              </a:defRPr>
            </a:defPPr>
          </a:lstStyle>
          <a:p xmlns:a="http://schemas.openxmlformats.org/drawingml/2006/main">
            <a:pPr>
              <a:defRPr sz="1875" b="0">
                <a:solidFill>
                  <a:srgbClr val="17384A"/>
                </a:solidFill>
                <a:latin typeface="DejaVu Sans"/>
                <a:ea typeface="DejaVu Sans"/>
                <a:cs typeface="DejaVu Sans"/>
              </a:defRPr>
            </a:pPr>
            <a:r>
              <a:rPr sz="1875" b="0">
                <a:solidFill>
                  <a:srgbClr val="17384A"/>
                </a:solidFill>
                <a:latin typeface="DejaVu Sans"/>
                <a:ea typeface="DejaVu Sans"/>
                <a:cs typeface="DejaVu Sans"/>
              </a:rPr>
              <a:t>“Onset” averages member-cell positions. It does not identify the first moment a programme turns on.</a:t>
            </a:r>
          </a:p>
        </p:txBody>
      </p:sp>
      <p:sp>
        <p:nvSpPr>
          <p:cNvPr id="12" name="">
            <a:extLst xmlns:a="http://schemas.openxmlformats.org/drawingml/2006/main">
              <a:ext uri="{FF2B5EF4-FFF2-40B4-BE49-F238E27FC236}">
                <a16:creationId xmlns:a16="http://schemas.microsoft.com/office/drawing/2014/main" id="{A2CD417B-07C6-4F0F-9A06-6379A8C3AFEF}"/>
              </a:ext>
            </a:extLst>
          </p:cNvPr>
          <p:cNvSpPr>
            <a:spLocks xmlns:a="http://schemas.openxmlformats.org/drawingml/2006/main" noGrp="1"/>
          </p:cNvSpPr>
          <p:nvPr/>
        </p:nvSpPr>
        <p:spPr>
          <a:xfrm xmlns:a="http://schemas.openxmlformats.org/drawingml/2006/main">
            <a:off x="14592300" y="808672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576773"/>
                </a:solidFill>
                <a:latin typeface="DejaVu Sans"/>
                <a:ea typeface="DejaVu Sans"/>
                <a:cs typeface="DejaVu Sans"/>
              </a:defRPr>
            </a:defPPr>
          </a:lstStyle>
          <a:p xmlns:a="http://schemas.openxmlformats.org/drawingml/2006/main">
            <a:pPr>
              <a:defRPr sz="1275" b="0">
                <a:solidFill>
                  <a:srgbClr val="576773"/>
                </a:solidFill>
                <a:latin typeface="DejaVu Sans"/>
                <a:ea typeface="DejaVu Sans"/>
                <a:cs typeface="DejaVu Sans"/>
              </a:defRPr>
            </a:pPr>
            <a:r>
              <a:rPr sz="1275" b="0">
                <a:solidFill>
                  <a:srgbClr val="576773"/>
                </a:solidFill>
                <a:latin typeface="DejaVu Sans"/>
                <a:ea typeface="DejaVu Sans"/>
                <a:cs typeface="DejaVu Sans"/>
              </a:rPr>
              <a:t>07</a:t>
            </a:r>
          </a:p>
        </p:txBody>
      </p:sp>
    </p:spTree>
    <p:extLst>
      <p:ext uri="{BB962C8B-B14F-4D97-AF65-F5344CB8AC3E}">
        <p14:creationId xmlns:p14="http://schemas.microsoft.com/office/powerpoint/2010/main" val="1956918286"/>
      </p:ext>
    </p:extLst>
  </p:cSld>
</p:sld>
</file>

<file path=ppt/slides/slide8.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AA9B98C-D76A-467D-815B-0488B9970D9F}"/>
              </a:ext>
            </a:extLst>
          </p:cNvPr>
          <p:cNvSpPr>
            <a:spLocks xmlns:a="http://schemas.openxmlformats.org/drawingml/2006/main" noGrp="1"/>
          </p:cNvSpPr>
          <p:nvPr/>
        </p:nvSpPr>
        <p:spPr>
          <a:xfrm xmlns:a="http://schemas.openxmlformats.org/drawingml/2006/main">
            <a:off x="514350" y="333375"/>
            <a:ext cx="14192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675" b="1">
                <a:solidFill>
                  <a:srgbClr val="17384A"/>
                </a:solidFill>
                <a:latin typeface="DejaVu Sans"/>
                <a:ea typeface="DejaVu Sans"/>
                <a:cs typeface="DejaVu Sans"/>
              </a:defRPr>
            </a:defPPr>
          </a:lstStyle>
          <a:p xmlns:a="http://schemas.openxmlformats.org/drawingml/2006/main">
            <a:pPr>
              <a:defRPr sz="3675" b="1">
                <a:solidFill>
                  <a:srgbClr val="17384A"/>
                </a:solidFill>
                <a:latin typeface="DejaVu Sans"/>
                <a:ea typeface="DejaVu Sans"/>
                <a:cs typeface="DejaVu Sans"/>
              </a:defRPr>
            </a:pPr>
            <a:r>
              <a:rPr sz="3675" b="1">
                <a:solidFill>
                  <a:srgbClr val="17384A"/>
                </a:solidFill>
                <a:latin typeface="DejaVu Sans"/>
                <a:ea typeface="DejaVu Sans"/>
                <a:cs typeface="DejaVu Sans"/>
              </a:rPr>
              <a:t>A convincing story needs independent checks</a:t>
            </a:r>
          </a:p>
        </p:txBody>
      </p:sp>
      <p:sp>
        <p:nvSpPr>
          <p:cNvPr id="2" name="">
            <a:extLst xmlns:a="http://schemas.openxmlformats.org/drawingml/2006/main">
              <a:ext uri="{FF2B5EF4-FFF2-40B4-BE49-F238E27FC236}">
                <a16:creationId xmlns:a16="http://schemas.microsoft.com/office/drawing/2014/main" id="{2A6B8F73-8BBA-422B-AB39-688AC54604C0}"/>
              </a:ext>
            </a:extLst>
          </p:cNvPr>
          <p:cNvSpPr>
            <a:spLocks xmlns:a="http://schemas.openxmlformats.org/drawingml/2006/main" noGrp="1"/>
          </p:cNvSpPr>
          <p:nvPr/>
        </p:nvSpPr>
        <p:spPr>
          <a:xfrm xmlns:a="http://schemas.openxmlformats.org/drawingml/2006/main">
            <a:off x="542925" y="1123950"/>
            <a:ext cx="1400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576773"/>
                </a:solidFill>
                <a:latin typeface="DejaVu Sans"/>
                <a:ea typeface="DejaVu Sans"/>
                <a:cs typeface="DejaVu Sans"/>
              </a:defRPr>
            </a:defPPr>
          </a:lstStyle>
          <a:p xmlns:a="http://schemas.openxmlformats.org/drawingml/2006/main">
            <a:pPr>
              <a:defRPr sz="2025" b="0">
                <a:solidFill>
                  <a:srgbClr val="576773"/>
                </a:solidFill>
                <a:latin typeface="DejaVu Sans"/>
                <a:ea typeface="DejaVu Sans"/>
                <a:cs typeface="DejaVu Sans"/>
              </a:defRPr>
            </a:pPr>
            <a:r>
              <a:rPr sz="2025" b="0">
                <a:solidFill>
                  <a:srgbClr val="576773"/>
                </a:solidFill>
                <a:latin typeface="DejaVu Sans"/>
                <a:ea typeface="DejaVu Sans"/>
                <a:cs typeface="DejaVu Sans"/>
              </a:rPr>
              <a:t>Some traits describe development; others describe something else</a:t>
            </a:r>
          </a:p>
        </p:txBody>
      </p:sp>
      <p:pic>
        <p:nvPicPr>
          <p:cNvPr id="3" name="">
            <a:extLst xmlns:a="http://schemas.openxmlformats.org/drawingml/2006/main">
              <a:ext uri="{FF2B5EF4-FFF2-40B4-BE49-F238E27FC236}">
                <a16:creationId xmlns:a16="http://schemas.microsoft.com/office/drawing/2014/main" id="{F4DD625F-256A-4A8E-8B07-EDC69679F112}"/>
              </a:ext>
            </a:extLst>
          </p:cNvPr>
          <p:cNvPicPr>
            <a:picLocks xmlns:a="http://schemas.openxmlformats.org/drawingml/2006/main" noChangeAspect="1"/>
          </p:cNvPicPr>
          <p:nvPr/>
        </p:nvPicPr>
        <p:blipFill>
          <a:blip xmlns:r="http://schemas.openxmlformats.org/officeDocument/2006/relationships" xmlns:a="http://schemas.openxmlformats.org/drawingml/2006/main" r:embed="R88e3a52d523e494c"/>
          <a:stretch xmlns:a="http://schemas.openxmlformats.org/drawingml/2006/main"/>
        </p:blipFill>
        <p:spPr>
          <a:xfrm xmlns:a="http://schemas.openxmlformats.org/drawingml/2006/main">
            <a:off x="564356" y="1828800"/>
            <a:ext cx="8643938" cy="5762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ACBEED0-78AC-4F4E-AA00-052FDBE0D6C2}"/>
              </a:ext>
            </a:extLst>
          </p:cNvPr>
          <p:cNvSpPr>
            <a:spLocks xmlns:a="http://schemas.openxmlformats.org/drawingml/2006/main" noGrp="1"/>
          </p:cNvSpPr>
          <p:nvPr/>
        </p:nvSpPr>
        <p:spPr>
          <a:xfrm xmlns:a="http://schemas.openxmlformats.org/drawingml/2006/main">
            <a:off x="9906000" y="2209800"/>
            <a:ext cx="4810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87C85"/>
                </a:solidFill>
                <a:latin typeface="DejaVu Sans"/>
                <a:ea typeface="DejaVu Sans"/>
                <a:cs typeface="DejaVu Sans"/>
              </a:defRPr>
            </a:defPPr>
          </a:lstStyle>
          <a:p xmlns:a="http://schemas.openxmlformats.org/drawingml/2006/main">
            <a:pPr>
              <a:defRPr sz="2325" b="1">
                <a:solidFill>
                  <a:srgbClr val="087C85"/>
                </a:solidFill>
                <a:latin typeface="DejaVu Sans"/>
                <a:ea typeface="DejaVu Sans"/>
                <a:cs typeface="DejaVu Sans"/>
              </a:defRPr>
            </a:pPr>
            <a:r>
              <a:rPr sz="2325" b="1">
                <a:solidFill>
                  <a:srgbClr val="087C85"/>
                </a:solidFill>
                <a:latin typeface="DejaVu Sans"/>
                <a:ea typeface="DejaVu Sans"/>
                <a:cs typeface="DejaVu Sans"/>
              </a:rPr>
              <a:t>Useful signal?</a:t>
            </a:r>
          </a:p>
        </p:txBody>
      </p:sp>
      <p:sp>
        <p:nvSpPr>
          <p:cNvPr id="5" name="">
            <a:extLst xmlns:a="http://schemas.openxmlformats.org/drawingml/2006/main">
              <a:ext uri="{FF2B5EF4-FFF2-40B4-BE49-F238E27FC236}">
                <a16:creationId xmlns:a16="http://schemas.microsoft.com/office/drawing/2014/main" id="{5F0342A9-AE9B-4EF8-8990-9BD41934E3FC}"/>
              </a:ext>
            </a:extLst>
          </p:cNvPr>
          <p:cNvSpPr>
            <a:spLocks xmlns:a="http://schemas.openxmlformats.org/drawingml/2006/main" noGrp="1"/>
          </p:cNvSpPr>
          <p:nvPr/>
        </p:nvSpPr>
        <p:spPr>
          <a:xfrm xmlns:a="http://schemas.openxmlformats.org/drawingml/2006/main">
            <a:off x="9906000" y="2724150"/>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84A"/>
                </a:solidFill>
                <a:latin typeface="DejaVu Sans"/>
                <a:ea typeface="DejaVu Sans"/>
                <a:cs typeface="DejaVu Sans"/>
              </a:defRPr>
            </a:defPPr>
          </a:lstStyle>
          <a:p xmlns:a="http://schemas.openxmlformats.org/drawingml/2006/main">
            <a:pPr>
              <a:defRPr sz="2100" b="0">
                <a:solidFill>
                  <a:srgbClr val="17384A"/>
                </a:solidFill>
                <a:latin typeface="DejaVu Sans"/>
                <a:ea typeface="DejaVu Sans"/>
                <a:cs typeface="DejaVu Sans"/>
              </a:defRPr>
            </a:pPr>
            <a:r>
              <a:rPr sz="2100" b="0">
                <a:solidFill>
                  <a:srgbClr val="17384A"/>
                </a:solidFill>
                <a:latin typeface="DejaVu Sans"/>
                <a:ea typeface="DejaVu Sans"/>
                <a:cs typeface="DejaVu Sans"/>
              </a:rPr>
              <a:t>Height can track growth. Eye color generally does not.</a:t>
            </a:r>
          </a:p>
        </p:txBody>
      </p:sp>
      <p:sp>
        <p:nvSpPr>
          <p:cNvPr id="6" name="">
            <a:extLst xmlns:a="http://schemas.openxmlformats.org/drawingml/2006/main">
              <a:ext uri="{FF2B5EF4-FFF2-40B4-BE49-F238E27FC236}">
                <a16:creationId xmlns:a16="http://schemas.microsoft.com/office/drawing/2014/main" id="{E1071ED2-2208-4A88-B9DD-5931BEE15ECB}"/>
              </a:ext>
            </a:extLst>
          </p:cNvPr>
          <p:cNvSpPr>
            <a:spLocks xmlns:a="http://schemas.openxmlformats.org/drawingml/2006/main" noGrp="1"/>
          </p:cNvSpPr>
          <p:nvPr/>
        </p:nvSpPr>
        <p:spPr>
          <a:xfrm xmlns:a="http://schemas.openxmlformats.org/drawingml/2006/main">
            <a:off x="9906000" y="3876675"/>
            <a:ext cx="4810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87C85"/>
                </a:solidFill>
                <a:latin typeface="DejaVu Sans"/>
                <a:ea typeface="DejaVu Sans"/>
                <a:cs typeface="DejaVu Sans"/>
              </a:defRPr>
            </a:defPPr>
          </a:lstStyle>
          <a:p xmlns:a="http://schemas.openxmlformats.org/drawingml/2006/main">
            <a:pPr>
              <a:defRPr sz="2325" b="1">
                <a:solidFill>
                  <a:srgbClr val="087C85"/>
                </a:solidFill>
                <a:latin typeface="DejaVu Sans"/>
                <a:ea typeface="DejaVu Sans"/>
                <a:cs typeface="DejaVu Sans"/>
              </a:defRPr>
            </a:pPr>
            <a:r>
              <a:rPr sz="2325" b="1">
                <a:solidFill>
                  <a:srgbClr val="087C85"/>
                </a:solidFill>
                <a:latin typeface="DejaVu Sans"/>
                <a:ea typeface="DejaVu Sans"/>
                <a:cs typeface="DejaVu Sans"/>
              </a:rPr>
              <a:t>Independent evidence</a:t>
            </a:r>
          </a:p>
        </p:txBody>
      </p:sp>
      <p:sp>
        <p:nvSpPr>
          <p:cNvPr id="7" name="">
            <a:extLst xmlns:a="http://schemas.openxmlformats.org/drawingml/2006/main">
              <a:ext uri="{FF2B5EF4-FFF2-40B4-BE49-F238E27FC236}">
                <a16:creationId xmlns:a16="http://schemas.microsoft.com/office/drawing/2014/main" id="{F7A505BE-EE3D-471F-A5E5-085A7C1DB5B0}"/>
              </a:ext>
            </a:extLst>
          </p:cNvPr>
          <p:cNvSpPr>
            <a:spLocks xmlns:a="http://schemas.openxmlformats.org/drawingml/2006/main" noGrp="1"/>
          </p:cNvSpPr>
          <p:nvPr/>
        </p:nvSpPr>
        <p:spPr>
          <a:xfrm xmlns:a="http://schemas.openxmlformats.org/drawingml/2006/main">
            <a:off x="9906000" y="4391025"/>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84A"/>
                </a:solidFill>
                <a:latin typeface="DejaVu Sans"/>
                <a:ea typeface="DejaVu Sans"/>
                <a:cs typeface="DejaVu Sans"/>
              </a:defRPr>
            </a:defPPr>
          </a:lstStyle>
          <a:p xmlns:a="http://schemas.openxmlformats.org/drawingml/2006/main">
            <a:pPr>
              <a:defRPr sz="2100" b="0">
                <a:solidFill>
                  <a:srgbClr val="17384A"/>
                </a:solidFill>
                <a:latin typeface="DejaVu Sans"/>
                <a:ea typeface="DejaVu Sans"/>
                <a:cs typeface="DejaVu Sans"/>
              </a:defRPr>
            </a:pPr>
            <a:r>
              <a:rPr sz="2100" b="0">
                <a:solidFill>
                  <a:srgbClr val="17384A"/>
                </a:solidFill>
                <a:latin typeface="DejaVu Sans"/>
                <a:ea typeface="DejaVu Sans"/>
                <a:cs typeface="DejaVu Sans"/>
              </a:rPr>
              <a:t>Check the map against a measurement excluded from fitting.</a:t>
            </a:r>
          </a:p>
        </p:txBody>
      </p:sp>
      <p:sp>
        <p:nvSpPr>
          <p:cNvPr id="8" name="">
            <a:extLst xmlns:a="http://schemas.openxmlformats.org/drawingml/2006/main">
              <a:ext uri="{FF2B5EF4-FFF2-40B4-BE49-F238E27FC236}">
                <a16:creationId xmlns:a16="http://schemas.microsoft.com/office/drawing/2014/main" id="{05D77605-13F1-4963-921D-CD5DAB5A589E}"/>
              </a:ext>
            </a:extLst>
          </p:cNvPr>
          <p:cNvSpPr>
            <a:spLocks xmlns:a="http://schemas.openxmlformats.org/drawingml/2006/main" noGrp="1"/>
          </p:cNvSpPr>
          <p:nvPr/>
        </p:nvSpPr>
        <p:spPr>
          <a:xfrm xmlns:a="http://schemas.openxmlformats.org/drawingml/2006/main">
            <a:off x="9906000" y="5543550"/>
            <a:ext cx="4810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87C85"/>
                </a:solidFill>
                <a:latin typeface="DejaVu Sans"/>
                <a:ea typeface="DejaVu Sans"/>
                <a:cs typeface="DejaVu Sans"/>
              </a:defRPr>
            </a:defPPr>
          </a:lstStyle>
          <a:p xmlns:a="http://schemas.openxmlformats.org/drawingml/2006/main">
            <a:pPr>
              <a:defRPr sz="2325" b="1">
                <a:solidFill>
                  <a:srgbClr val="087C85"/>
                </a:solidFill>
                <a:latin typeface="DejaVu Sans"/>
                <a:ea typeface="DejaVu Sans"/>
                <a:cs typeface="DejaVu Sans"/>
              </a:defRPr>
            </a:pPr>
            <a:r>
              <a:rPr sz="2325" b="1">
                <a:solidFill>
                  <a:srgbClr val="087C85"/>
                </a:solidFill>
                <a:latin typeface="DejaVu Sans"/>
                <a:ea typeface="DejaVu Sans"/>
                <a:cs typeface="DejaVu Sans"/>
              </a:rPr>
              <a:t>Limits of inference</a:t>
            </a:r>
          </a:p>
        </p:txBody>
      </p:sp>
      <p:sp>
        <p:nvSpPr>
          <p:cNvPr id="9" name="">
            <a:extLst xmlns:a="http://schemas.openxmlformats.org/drawingml/2006/main">
              <a:ext uri="{FF2B5EF4-FFF2-40B4-BE49-F238E27FC236}">
                <a16:creationId xmlns:a16="http://schemas.microsoft.com/office/drawing/2014/main" id="{90D8119A-8992-4E3A-81C4-3AC20BCB12E1}"/>
              </a:ext>
            </a:extLst>
          </p:cNvPr>
          <p:cNvSpPr>
            <a:spLocks xmlns:a="http://schemas.openxmlformats.org/drawingml/2006/main" noGrp="1"/>
          </p:cNvSpPr>
          <p:nvPr/>
        </p:nvSpPr>
        <p:spPr>
          <a:xfrm xmlns:a="http://schemas.openxmlformats.org/drawingml/2006/main">
            <a:off x="9906000" y="6057900"/>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84A"/>
                </a:solidFill>
                <a:latin typeface="DejaVu Sans"/>
                <a:ea typeface="DejaVu Sans"/>
                <a:cs typeface="DejaVu Sans"/>
              </a:defRPr>
            </a:defPPr>
          </a:lstStyle>
          <a:p xmlns:a="http://schemas.openxmlformats.org/drawingml/2006/main">
            <a:pPr>
              <a:defRPr sz="2100" b="0">
                <a:solidFill>
                  <a:srgbClr val="17384A"/>
                </a:solidFill>
                <a:latin typeface="DejaVu Sans"/>
                <a:ea typeface="DejaVu Sans"/>
                <a:cs typeface="DejaVu Sans"/>
              </a:defRPr>
            </a:pPr>
            <a:r>
              <a:rPr sz="2100" b="0">
                <a:solidFill>
                  <a:srgbClr val="17384A"/>
                </a:solidFill>
                <a:latin typeface="DejaVu Sans"/>
                <a:ea typeface="DejaVu Sans"/>
                <a:cs typeface="DejaVu Sans"/>
              </a:rPr>
              <a:t>An association does not prove what caused the progression.</a:t>
            </a:r>
          </a:p>
        </p:txBody>
      </p:sp>
      <p:sp>
        <p:nvSpPr>
          <p:cNvPr id="10" name="">
            <a:extLst xmlns:a="http://schemas.openxmlformats.org/drawingml/2006/main">
              <a:ext uri="{FF2B5EF4-FFF2-40B4-BE49-F238E27FC236}">
                <a16:creationId xmlns:a16="http://schemas.microsoft.com/office/drawing/2014/main" id="{8860E0D0-63BF-41FC-8A5D-03AA7BBA319F}"/>
              </a:ext>
            </a:extLst>
          </p:cNvPr>
          <p:cNvSpPr>
            <a:spLocks xmlns:a="http://schemas.openxmlformats.org/drawingml/2006/main" noGrp="1"/>
          </p:cNvSpPr>
          <p:nvPr/>
        </p:nvSpPr>
        <p:spPr>
          <a:xfrm xmlns:a="http://schemas.openxmlformats.org/drawingml/2006/main">
            <a:off x="542925" y="769620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1">
                <a:solidFill>
                  <a:srgbClr val="087C85"/>
                </a:solidFill>
                <a:latin typeface="DejaVu Sans"/>
                <a:ea typeface="DejaVu Sans"/>
                <a:cs typeface="DejaVu Sans"/>
              </a:defRPr>
            </a:defPPr>
          </a:lstStyle>
          <a:p xmlns:a="http://schemas.openxmlformats.org/drawingml/2006/main">
            <a:pPr>
              <a:defRPr sz="1500" b="1">
                <a:solidFill>
                  <a:srgbClr val="087C85"/>
                </a:solidFill>
                <a:latin typeface="DejaVu Sans"/>
                <a:ea typeface="DejaVu Sans"/>
                <a:cs typeface="DejaVu Sans"/>
              </a:defRPr>
            </a:pPr>
            <a:r>
              <a:rPr sz="1500" b="1">
                <a:solidFill>
                  <a:srgbClr val="087C85"/>
                </a:solidFill>
                <a:latin typeface="DejaVu Sans"/>
                <a:ea typeface="DejaVu Sans"/>
                <a:cs typeface="DejaVu Sans"/>
              </a:rPr>
              <a:t>IN PSEUDOEMBED</a:t>
            </a:r>
          </a:p>
        </p:txBody>
      </p:sp>
      <p:sp>
        <p:nvSpPr>
          <p:cNvPr id="11" name="">
            <a:extLst xmlns:a="http://schemas.openxmlformats.org/drawingml/2006/main">
              <a:ext uri="{FF2B5EF4-FFF2-40B4-BE49-F238E27FC236}">
                <a16:creationId xmlns:a16="http://schemas.microsoft.com/office/drawing/2014/main" id="{657BE930-3016-4F15-887E-FA2AD0962569}"/>
              </a:ext>
            </a:extLst>
          </p:cNvPr>
          <p:cNvSpPr>
            <a:spLocks xmlns:a="http://schemas.openxmlformats.org/drawingml/2006/main" noGrp="1"/>
          </p:cNvSpPr>
          <p:nvPr/>
        </p:nvSpPr>
        <p:spPr>
          <a:xfrm xmlns:a="http://schemas.openxmlformats.org/drawingml/2006/main">
            <a:off x="3352800" y="76771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7384A"/>
                </a:solidFill>
                <a:latin typeface="DejaVu Sans"/>
                <a:ea typeface="DejaVu Sans"/>
                <a:cs typeface="DejaVu Sans"/>
              </a:defRPr>
            </a:defPPr>
          </a:lstStyle>
          <a:p xmlns:a="http://schemas.openxmlformats.org/drawingml/2006/main">
            <a:pPr>
              <a:defRPr sz="1875" b="0">
                <a:solidFill>
                  <a:srgbClr val="17384A"/>
                </a:solidFill>
                <a:latin typeface="DejaVu Sans"/>
                <a:ea typeface="DejaVu Sans"/>
                <a:cs typeface="DejaVu Sans"/>
              </a:defRPr>
            </a:pPr>
            <a:r>
              <a:rPr sz="1875" b="0">
                <a:solidFill>
                  <a:srgbClr val="17384A"/>
                </a:solidFill>
                <a:latin typeface="DejaVu Sans"/>
                <a:ea typeface="DejaVu Sans"/>
                <a:cs typeface="DejaVu Sans"/>
              </a:rPr>
              <a:t>Use held-out measurements and sensitivity checks. Time correlation is not independent if time helped fit the map.</a:t>
            </a:r>
          </a:p>
        </p:txBody>
      </p:sp>
      <p:sp>
        <p:nvSpPr>
          <p:cNvPr id="12" name="">
            <a:extLst xmlns:a="http://schemas.openxmlformats.org/drawingml/2006/main">
              <a:ext uri="{FF2B5EF4-FFF2-40B4-BE49-F238E27FC236}">
                <a16:creationId xmlns:a16="http://schemas.microsoft.com/office/drawing/2014/main" id="{8B5F976E-328A-497B-A1DD-E308DB5B9FDD}"/>
              </a:ext>
            </a:extLst>
          </p:cNvPr>
          <p:cNvSpPr>
            <a:spLocks xmlns:a="http://schemas.openxmlformats.org/drawingml/2006/main" noGrp="1"/>
          </p:cNvSpPr>
          <p:nvPr/>
        </p:nvSpPr>
        <p:spPr>
          <a:xfrm xmlns:a="http://schemas.openxmlformats.org/drawingml/2006/main">
            <a:off x="14592300" y="808672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576773"/>
                </a:solidFill>
                <a:latin typeface="DejaVu Sans"/>
                <a:ea typeface="DejaVu Sans"/>
                <a:cs typeface="DejaVu Sans"/>
              </a:defRPr>
            </a:defPPr>
          </a:lstStyle>
          <a:p xmlns:a="http://schemas.openxmlformats.org/drawingml/2006/main">
            <a:pPr>
              <a:defRPr sz="1275" b="0">
                <a:solidFill>
                  <a:srgbClr val="576773"/>
                </a:solidFill>
                <a:latin typeface="DejaVu Sans"/>
                <a:ea typeface="DejaVu Sans"/>
                <a:cs typeface="DejaVu Sans"/>
              </a:defRPr>
            </a:pPr>
            <a:r>
              <a:rPr sz="1275" b="0">
                <a:solidFill>
                  <a:srgbClr val="576773"/>
                </a:solidFill>
                <a:latin typeface="DejaVu Sans"/>
                <a:ea typeface="DejaVu Sans"/>
                <a:cs typeface="DejaVu Sans"/>
              </a:rPr>
              <a:t>08</a:t>
            </a:r>
          </a:p>
        </p:txBody>
      </p:sp>
    </p:spTree>
    <p:extLst>
      <p:ext uri="{BB962C8B-B14F-4D97-AF65-F5344CB8AC3E}">
        <p14:creationId xmlns:p14="http://schemas.microsoft.com/office/powerpoint/2010/main" val="1178991476"/>
      </p:ext>
    </p:extLst>
  </p:cSld>
</p:sld>
</file>

<file path=ppt/slides/slide9.xml><?xml version="1.0" encoding="utf-8"?>
<p:sld xmlns:p="http://schemas.openxmlformats.org/presentationml/2006/main">
  <p:cSld>
    <p:bg>
      <p:bgPr>
        <a:solidFill xmlns:a="http://schemas.openxmlformats.org/drawingml/2006/main">
          <a:srgbClr val="FFF9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9D6D6EF-4BE9-4CAF-BF51-99B64C1B496A}"/>
              </a:ext>
            </a:extLst>
          </p:cNvPr>
          <p:cNvSpPr>
            <a:spLocks xmlns:a="http://schemas.openxmlformats.org/drawingml/2006/main" noGrp="1"/>
          </p:cNvSpPr>
          <p:nvPr/>
        </p:nvSpPr>
        <p:spPr>
          <a:xfrm xmlns:a="http://schemas.openxmlformats.org/drawingml/2006/main">
            <a:off x="514350" y="333375"/>
            <a:ext cx="14192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675" b="1">
                <a:solidFill>
                  <a:srgbClr val="17384A"/>
                </a:solidFill>
                <a:latin typeface="DejaVu Sans"/>
                <a:ea typeface="DejaVu Sans"/>
                <a:cs typeface="DejaVu Sans"/>
              </a:defRPr>
            </a:defPPr>
          </a:lstStyle>
          <a:p xmlns:a="http://schemas.openxmlformats.org/drawingml/2006/main">
            <a:pPr>
              <a:defRPr sz="3675" b="1">
                <a:solidFill>
                  <a:srgbClr val="17384A"/>
                </a:solidFill>
                <a:latin typeface="DejaVu Sans"/>
                <a:ea typeface="DejaVu Sans"/>
                <a:cs typeface="DejaVu Sans"/>
              </a:defRPr>
            </a:pPr>
            <a:r>
              <a:rPr sz="3675" b="1">
                <a:solidFill>
                  <a:srgbClr val="17384A"/>
                </a:solidFill>
                <a:latin typeface="DejaVu Sans"/>
                <a:ea typeface="DejaVu Sans"/>
                <a:cs typeface="DejaVu Sans"/>
              </a:rPr>
              <a:t>Back to cells: the PseudoEmbed idea</a:t>
            </a:r>
          </a:p>
        </p:txBody>
      </p:sp>
      <p:sp>
        <p:nvSpPr>
          <p:cNvPr id="2" name="">
            <a:extLst xmlns:a="http://schemas.openxmlformats.org/drawingml/2006/main">
              <a:ext uri="{FF2B5EF4-FFF2-40B4-BE49-F238E27FC236}">
                <a16:creationId xmlns:a16="http://schemas.microsoft.com/office/drawing/2014/main" id="{FEF2FD8F-0DE2-4B82-9D84-3DCE3FA55A73}"/>
              </a:ext>
            </a:extLst>
          </p:cNvPr>
          <p:cNvSpPr>
            <a:spLocks xmlns:a="http://schemas.openxmlformats.org/drawingml/2006/main" noGrp="1"/>
          </p:cNvSpPr>
          <p:nvPr/>
        </p:nvSpPr>
        <p:spPr>
          <a:xfrm xmlns:a="http://schemas.openxmlformats.org/drawingml/2006/main">
            <a:off x="542925" y="1123950"/>
            <a:ext cx="14001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0">
                <a:solidFill>
                  <a:srgbClr val="576773"/>
                </a:solidFill>
                <a:latin typeface="DejaVu Sans"/>
                <a:ea typeface="DejaVu Sans"/>
                <a:cs typeface="DejaVu Sans"/>
              </a:defRPr>
            </a:defPPr>
          </a:lstStyle>
          <a:p xmlns:a="http://schemas.openxmlformats.org/drawingml/2006/main">
            <a:pPr>
              <a:defRPr sz="2025" b="0">
                <a:solidFill>
                  <a:srgbClr val="576773"/>
                </a:solidFill>
                <a:latin typeface="DejaVu Sans"/>
                <a:ea typeface="DejaVu Sans"/>
                <a:cs typeface="DejaVu Sans"/>
              </a:defRPr>
            </a:pPr>
            <a:r>
              <a:rPr sz="2025" b="0">
                <a:solidFill>
                  <a:srgbClr val="576773"/>
                </a:solidFill>
                <a:latin typeface="DejaVu Sans"/>
                <a:ea typeface="DejaVu Sans"/>
                <a:cs typeface="DejaVu Sans"/>
              </a:rPr>
              <a:t>Shared traits can span different developmental branches</a:t>
            </a:r>
          </a:p>
        </p:txBody>
      </p:sp>
      <p:pic>
        <p:nvPicPr>
          <p:cNvPr id="3" name="">
            <a:extLst xmlns:a="http://schemas.openxmlformats.org/drawingml/2006/main">
              <a:ext uri="{FF2B5EF4-FFF2-40B4-BE49-F238E27FC236}">
                <a16:creationId xmlns:a16="http://schemas.microsoft.com/office/drawing/2014/main" id="{E818196B-A33E-4150-9DB7-DC45534E2007}"/>
              </a:ext>
            </a:extLst>
          </p:cNvPr>
          <p:cNvPicPr>
            <a:picLocks xmlns:a="http://schemas.openxmlformats.org/drawingml/2006/main" noChangeAspect="1"/>
          </p:cNvPicPr>
          <p:nvPr/>
        </p:nvPicPr>
        <p:blipFill>
          <a:blip xmlns:r="http://schemas.openxmlformats.org/officeDocument/2006/relationships" xmlns:a="http://schemas.openxmlformats.org/drawingml/2006/main" r:embed="Rff015940ba1d4fa8"/>
          <a:stretch xmlns:a="http://schemas.openxmlformats.org/drawingml/2006/main"/>
        </p:blipFill>
        <p:spPr>
          <a:xfrm xmlns:a="http://schemas.openxmlformats.org/drawingml/2006/main">
            <a:off x="564356" y="1828800"/>
            <a:ext cx="8643938" cy="5762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8AABC60-BEA7-4261-A530-BB7BEF4DE125}"/>
              </a:ext>
            </a:extLst>
          </p:cNvPr>
          <p:cNvSpPr>
            <a:spLocks xmlns:a="http://schemas.openxmlformats.org/drawingml/2006/main" noGrp="1"/>
          </p:cNvSpPr>
          <p:nvPr/>
        </p:nvSpPr>
        <p:spPr>
          <a:xfrm xmlns:a="http://schemas.openxmlformats.org/drawingml/2006/main">
            <a:off x="9906000" y="2209800"/>
            <a:ext cx="4810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87C85"/>
                </a:solidFill>
                <a:latin typeface="DejaVu Sans"/>
                <a:ea typeface="DejaVu Sans"/>
                <a:cs typeface="DejaVu Sans"/>
              </a:defRPr>
            </a:defPPr>
          </a:lstStyle>
          <a:p xmlns:a="http://schemas.openxmlformats.org/drawingml/2006/main">
            <a:pPr>
              <a:defRPr sz="2325" b="1">
                <a:solidFill>
                  <a:srgbClr val="087C85"/>
                </a:solidFill>
                <a:latin typeface="DejaVu Sans"/>
                <a:ea typeface="DejaVu Sans"/>
                <a:cs typeface="DejaVu Sans"/>
              </a:defRPr>
            </a:pPr>
            <a:r>
              <a:rPr sz="2325" b="1">
                <a:solidFill>
                  <a:srgbClr val="087C85"/>
                </a:solidFill>
                <a:latin typeface="DejaVu Sans"/>
                <a:ea typeface="DejaVu Sans"/>
                <a:cs typeface="DejaVu Sans"/>
              </a:rPr>
              <a:t>People become cells</a:t>
            </a:r>
          </a:p>
        </p:txBody>
      </p:sp>
      <p:sp>
        <p:nvSpPr>
          <p:cNvPr id="5" name="">
            <a:extLst xmlns:a="http://schemas.openxmlformats.org/drawingml/2006/main">
              <a:ext uri="{FF2B5EF4-FFF2-40B4-BE49-F238E27FC236}">
                <a16:creationId xmlns:a16="http://schemas.microsoft.com/office/drawing/2014/main" id="{008EC45D-DBEE-4742-A438-AB693BD37A9E}"/>
              </a:ext>
            </a:extLst>
          </p:cNvPr>
          <p:cNvSpPr>
            <a:spLocks xmlns:a="http://schemas.openxmlformats.org/drawingml/2006/main" noGrp="1"/>
          </p:cNvSpPr>
          <p:nvPr/>
        </p:nvSpPr>
        <p:spPr>
          <a:xfrm xmlns:a="http://schemas.openxmlformats.org/drawingml/2006/main">
            <a:off x="9906000" y="2724150"/>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84A"/>
                </a:solidFill>
                <a:latin typeface="DejaVu Sans"/>
                <a:ea typeface="DejaVu Sans"/>
                <a:cs typeface="DejaVu Sans"/>
              </a:defRPr>
            </a:defPPr>
          </a:lstStyle>
          <a:p xmlns:a="http://schemas.openxmlformats.org/drawingml/2006/main">
            <a:pPr>
              <a:defRPr sz="2100" b="0">
                <a:solidFill>
                  <a:srgbClr val="17384A"/>
                </a:solidFill>
                <a:latin typeface="DejaVu Sans"/>
                <a:ea typeface="DejaVu Sans"/>
                <a:cs typeface="DejaVu Sans"/>
              </a:defRPr>
            </a:pPr>
            <a:r>
              <a:rPr sz="2100" b="0">
                <a:solidFill>
                  <a:srgbClr val="17384A"/>
                </a:solidFill>
                <a:latin typeface="DejaVu Sans"/>
                <a:ea typeface="DejaVu Sans"/>
                <a:cs typeface="DejaVu Sans"/>
              </a:rPr>
              <a:t>Each cell has an expression profile.</a:t>
            </a:r>
          </a:p>
        </p:txBody>
      </p:sp>
      <p:sp>
        <p:nvSpPr>
          <p:cNvPr id="6" name="">
            <a:extLst xmlns:a="http://schemas.openxmlformats.org/drawingml/2006/main">
              <a:ext uri="{FF2B5EF4-FFF2-40B4-BE49-F238E27FC236}">
                <a16:creationId xmlns:a16="http://schemas.microsoft.com/office/drawing/2014/main" id="{84C5F1E5-7EB0-4303-B8D5-8B91EBB1A3FC}"/>
              </a:ext>
            </a:extLst>
          </p:cNvPr>
          <p:cNvSpPr>
            <a:spLocks xmlns:a="http://schemas.openxmlformats.org/drawingml/2006/main" noGrp="1"/>
          </p:cNvSpPr>
          <p:nvPr/>
        </p:nvSpPr>
        <p:spPr>
          <a:xfrm xmlns:a="http://schemas.openxmlformats.org/drawingml/2006/main">
            <a:off x="9906000" y="3876675"/>
            <a:ext cx="4810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87C85"/>
                </a:solidFill>
                <a:latin typeface="DejaVu Sans"/>
                <a:ea typeface="DejaVu Sans"/>
                <a:cs typeface="DejaVu Sans"/>
              </a:defRPr>
            </a:defPPr>
          </a:lstStyle>
          <a:p xmlns:a="http://schemas.openxmlformats.org/drawingml/2006/main">
            <a:pPr>
              <a:defRPr sz="2325" b="1">
                <a:solidFill>
                  <a:srgbClr val="087C85"/>
                </a:solidFill>
                <a:latin typeface="DejaVu Sans"/>
                <a:ea typeface="DejaVu Sans"/>
                <a:cs typeface="DejaVu Sans"/>
              </a:defRPr>
            </a:pPr>
            <a:r>
              <a:rPr sz="2325" b="1">
                <a:solidFill>
                  <a:srgbClr val="087C85"/>
                </a:solidFill>
                <a:latin typeface="DejaVu Sans"/>
                <a:ea typeface="DejaVu Sans"/>
                <a:cs typeface="DejaVu Sans"/>
              </a:rPr>
              <a:t>Groups become hyperedges</a:t>
            </a:r>
          </a:p>
        </p:txBody>
      </p:sp>
      <p:sp>
        <p:nvSpPr>
          <p:cNvPr id="7" name="">
            <a:extLst xmlns:a="http://schemas.openxmlformats.org/drawingml/2006/main">
              <a:ext uri="{FF2B5EF4-FFF2-40B4-BE49-F238E27FC236}">
                <a16:creationId xmlns:a16="http://schemas.microsoft.com/office/drawing/2014/main" id="{D92FB1DC-0B49-419A-BAB9-67AFD4F237FF}"/>
              </a:ext>
            </a:extLst>
          </p:cNvPr>
          <p:cNvSpPr>
            <a:spLocks xmlns:a="http://schemas.openxmlformats.org/drawingml/2006/main" noGrp="1"/>
          </p:cNvSpPr>
          <p:nvPr/>
        </p:nvSpPr>
        <p:spPr>
          <a:xfrm xmlns:a="http://schemas.openxmlformats.org/drawingml/2006/main">
            <a:off x="9906000" y="4391025"/>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84A"/>
                </a:solidFill>
                <a:latin typeface="DejaVu Sans"/>
                <a:ea typeface="DejaVu Sans"/>
                <a:cs typeface="DejaVu Sans"/>
              </a:defRPr>
            </a:defPPr>
          </a:lstStyle>
          <a:p xmlns:a="http://schemas.openxmlformats.org/drawingml/2006/main">
            <a:pPr>
              <a:defRPr sz="2100" b="0">
                <a:solidFill>
                  <a:srgbClr val="17384A"/>
                </a:solidFill>
                <a:latin typeface="DejaVu Sans"/>
                <a:ea typeface="DejaVu Sans"/>
                <a:cs typeface="DejaVu Sans"/>
              </a:defRPr>
            </a:pPr>
            <a:r>
              <a:rPr sz="2100" b="0">
                <a:solidFill>
                  <a:srgbClr val="17384A"/>
                </a:solidFill>
                <a:latin typeface="DejaVu Sans"/>
                <a:ea typeface="DejaVu Sans"/>
                <a:cs typeface="DejaVu Sans"/>
              </a:rPr>
              <a:t>Named genes and programmes define overlapping cell sets.</a:t>
            </a:r>
          </a:p>
        </p:txBody>
      </p:sp>
      <p:sp>
        <p:nvSpPr>
          <p:cNvPr id="8" name="">
            <a:extLst xmlns:a="http://schemas.openxmlformats.org/drawingml/2006/main">
              <a:ext uri="{FF2B5EF4-FFF2-40B4-BE49-F238E27FC236}">
                <a16:creationId xmlns:a16="http://schemas.microsoft.com/office/drawing/2014/main" id="{35731E38-3A07-4100-8DB4-6C2D6CD3C83D}"/>
              </a:ext>
            </a:extLst>
          </p:cNvPr>
          <p:cNvSpPr>
            <a:spLocks xmlns:a="http://schemas.openxmlformats.org/drawingml/2006/main" noGrp="1"/>
          </p:cNvSpPr>
          <p:nvPr/>
        </p:nvSpPr>
        <p:spPr>
          <a:xfrm xmlns:a="http://schemas.openxmlformats.org/drawingml/2006/main">
            <a:off x="9906000" y="5543550"/>
            <a:ext cx="48101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1">
                <a:solidFill>
                  <a:srgbClr val="087C85"/>
                </a:solidFill>
                <a:latin typeface="DejaVu Sans"/>
                <a:ea typeface="DejaVu Sans"/>
                <a:cs typeface="DejaVu Sans"/>
              </a:defRPr>
            </a:defPPr>
          </a:lstStyle>
          <a:p xmlns:a="http://schemas.openxmlformats.org/drawingml/2006/main">
            <a:pPr>
              <a:defRPr sz="2325" b="1">
                <a:solidFill>
                  <a:srgbClr val="087C85"/>
                </a:solidFill>
                <a:latin typeface="DejaVu Sans"/>
                <a:ea typeface="DejaVu Sans"/>
                <a:cs typeface="DejaVu Sans"/>
              </a:defRPr>
            </a:pPr>
            <a:r>
              <a:rPr sz="2325" b="1">
                <a:solidFill>
                  <a:srgbClr val="087C85"/>
                </a:solidFill>
                <a:latin typeface="DejaVu Sans"/>
                <a:ea typeface="DejaVu Sans"/>
                <a:cs typeface="DejaVu Sans"/>
              </a:rPr>
              <a:t>Paths and specializations</a:t>
            </a:r>
          </a:p>
        </p:txBody>
      </p:sp>
      <p:sp>
        <p:nvSpPr>
          <p:cNvPr id="9" name="">
            <a:extLst xmlns:a="http://schemas.openxmlformats.org/drawingml/2006/main">
              <a:ext uri="{FF2B5EF4-FFF2-40B4-BE49-F238E27FC236}">
                <a16:creationId xmlns:a16="http://schemas.microsoft.com/office/drawing/2014/main" id="{47A026D0-8280-4D38-AB29-F703E77609E1}"/>
              </a:ext>
            </a:extLst>
          </p:cNvPr>
          <p:cNvSpPr>
            <a:spLocks xmlns:a="http://schemas.openxmlformats.org/drawingml/2006/main" noGrp="1"/>
          </p:cNvSpPr>
          <p:nvPr/>
        </p:nvSpPr>
        <p:spPr>
          <a:xfrm xmlns:a="http://schemas.openxmlformats.org/drawingml/2006/main">
            <a:off x="9906000" y="6057900"/>
            <a:ext cx="4762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0">
                <a:solidFill>
                  <a:srgbClr val="17384A"/>
                </a:solidFill>
                <a:latin typeface="DejaVu Sans"/>
                <a:ea typeface="DejaVu Sans"/>
                <a:cs typeface="DejaVu Sans"/>
              </a:defRPr>
            </a:defPPr>
          </a:lstStyle>
          <a:p xmlns:a="http://schemas.openxmlformats.org/drawingml/2006/main">
            <a:pPr>
              <a:defRPr sz="2100" b="0">
                <a:solidFill>
                  <a:srgbClr val="17384A"/>
                </a:solidFill>
                <a:latin typeface="DejaVu Sans"/>
                <a:ea typeface="DejaVu Sans"/>
                <a:cs typeface="DejaVu Sans"/>
              </a:defRPr>
            </a:pPr>
            <a:r>
              <a:rPr sz="2100" b="0">
                <a:solidFill>
                  <a:srgbClr val="17384A"/>
                </a:solidFill>
                <a:latin typeface="DejaVu Sans"/>
                <a:ea typeface="DejaVu Sans"/>
                <a:cs typeface="DejaVu Sans"/>
              </a:rPr>
              <a:t>Career paths resemble lineages. Job functions resemble cell types.</a:t>
            </a:r>
          </a:p>
        </p:txBody>
      </p:sp>
      <p:sp>
        <p:nvSpPr>
          <p:cNvPr id="10" name="">
            <a:extLst xmlns:a="http://schemas.openxmlformats.org/drawingml/2006/main">
              <a:ext uri="{FF2B5EF4-FFF2-40B4-BE49-F238E27FC236}">
                <a16:creationId xmlns:a16="http://schemas.microsoft.com/office/drawing/2014/main" id="{A44DFA06-F31D-4399-AF08-39F35F969052}"/>
              </a:ext>
            </a:extLst>
          </p:cNvPr>
          <p:cNvSpPr>
            <a:spLocks xmlns:a="http://schemas.openxmlformats.org/drawingml/2006/main" noGrp="1"/>
          </p:cNvSpPr>
          <p:nvPr/>
        </p:nvSpPr>
        <p:spPr>
          <a:xfrm xmlns:a="http://schemas.openxmlformats.org/drawingml/2006/main">
            <a:off x="542925" y="7696200"/>
            <a:ext cx="276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00" b="1">
                <a:solidFill>
                  <a:srgbClr val="087C85"/>
                </a:solidFill>
                <a:latin typeface="DejaVu Sans"/>
                <a:ea typeface="DejaVu Sans"/>
                <a:cs typeface="DejaVu Sans"/>
              </a:defRPr>
            </a:defPPr>
          </a:lstStyle>
          <a:p xmlns:a="http://schemas.openxmlformats.org/drawingml/2006/main">
            <a:pPr>
              <a:defRPr sz="1500" b="1">
                <a:solidFill>
                  <a:srgbClr val="087C85"/>
                </a:solidFill>
                <a:latin typeface="DejaVu Sans"/>
                <a:ea typeface="DejaVu Sans"/>
                <a:cs typeface="DejaVu Sans"/>
              </a:defRPr>
            </a:pPr>
            <a:r>
              <a:rPr sz="1500" b="1">
                <a:solidFill>
                  <a:srgbClr val="087C85"/>
                </a:solidFill>
                <a:latin typeface="DejaVu Sans"/>
                <a:ea typeface="DejaVu Sans"/>
                <a:cs typeface="DejaVu Sans"/>
              </a:rPr>
              <a:t>IN PSEUDOEMBED</a:t>
            </a:r>
          </a:p>
        </p:txBody>
      </p:sp>
      <p:sp>
        <p:nvSpPr>
          <p:cNvPr id="11" name="">
            <a:extLst xmlns:a="http://schemas.openxmlformats.org/drawingml/2006/main">
              <a:ext uri="{FF2B5EF4-FFF2-40B4-BE49-F238E27FC236}">
                <a16:creationId xmlns:a16="http://schemas.microsoft.com/office/drawing/2014/main" id="{DD745422-4C90-418A-AC3D-0C4E7BF93BE4}"/>
              </a:ext>
            </a:extLst>
          </p:cNvPr>
          <p:cNvSpPr>
            <a:spLocks xmlns:a="http://schemas.openxmlformats.org/drawingml/2006/main" noGrp="1"/>
          </p:cNvSpPr>
          <p:nvPr/>
        </p:nvSpPr>
        <p:spPr>
          <a:xfrm xmlns:a="http://schemas.openxmlformats.org/drawingml/2006/main">
            <a:off x="3352800" y="76771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17384A"/>
                </a:solidFill>
                <a:latin typeface="DejaVu Sans"/>
                <a:ea typeface="DejaVu Sans"/>
                <a:cs typeface="DejaVu Sans"/>
              </a:defRPr>
            </a:defPPr>
          </a:lstStyle>
          <a:p xmlns:a="http://schemas.openxmlformats.org/drawingml/2006/main">
            <a:pPr>
              <a:defRPr sz="1875" b="0">
                <a:solidFill>
                  <a:srgbClr val="17384A"/>
                </a:solidFill>
                <a:latin typeface="DejaVu Sans"/>
                <a:ea typeface="DejaVu Sans"/>
                <a:cs typeface="DejaVu Sans"/>
              </a:defRPr>
            </a:pPr>
            <a:r>
              <a:rPr sz="1875" b="0">
                <a:solidFill>
                  <a:srgbClr val="17384A"/>
                </a:solidFill>
                <a:latin typeface="DejaVu Sans"/>
                <a:ea typeface="DejaVu Sans"/>
                <a:cs typeface="DejaVu Sans"/>
              </a:rPr>
              <a:t>PseudoEmbed links a trajectory to named biological programmes. The result is a set of hypotheses to investigate.</a:t>
            </a:r>
          </a:p>
        </p:txBody>
      </p:sp>
      <p:sp>
        <p:nvSpPr>
          <p:cNvPr id="12" name="">
            <a:extLst xmlns:a="http://schemas.openxmlformats.org/drawingml/2006/main">
              <a:ext uri="{FF2B5EF4-FFF2-40B4-BE49-F238E27FC236}">
                <a16:creationId xmlns:a16="http://schemas.microsoft.com/office/drawing/2014/main" id="{C710B0FB-2ED0-47E9-B0B8-B9C0EF4EEC06}"/>
              </a:ext>
            </a:extLst>
          </p:cNvPr>
          <p:cNvSpPr>
            <a:spLocks xmlns:a="http://schemas.openxmlformats.org/drawingml/2006/main" noGrp="1"/>
          </p:cNvSpPr>
          <p:nvPr/>
        </p:nvSpPr>
        <p:spPr>
          <a:xfrm xmlns:a="http://schemas.openxmlformats.org/drawingml/2006/main">
            <a:off x="14592300" y="8086725"/>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0">
                <a:solidFill>
                  <a:srgbClr val="576773"/>
                </a:solidFill>
                <a:latin typeface="DejaVu Sans"/>
                <a:ea typeface="DejaVu Sans"/>
                <a:cs typeface="DejaVu Sans"/>
              </a:defRPr>
            </a:defPPr>
          </a:lstStyle>
          <a:p xmlns:a="http://schemas.openxmlformats.org/drawingml/2006/main">
            <a:pPr>
              <a:defRPr sz="1275" b="0">
                <a:solidFill>
                  <a:srgbClr val="576773"/>
                </a:solidFill>
                <a:latin typeface="DejaVu Sans"/>
                <a:ea typeface="DejaVu Sans"/>
                <a:cs typeface="DejaVu Sans"/>
              </a:defRPr>
            </a:pPr>
            <a:r>
              <a:rPr sz="1275" b="0">
                <a:solidFill>
                  <a:srgbClr val="576773"/>
                </a:solidFill>
                <a:latin typeface="DejaVu Sans"/>
                <a:ea typeface="DejaVu Sans"/>
                <a:cs typeface="DejaVu Sans"/>
              </a:rPr>
              <a:t>09</a:t>
            </a:r>
          </a:p>
        </p:txBody>
      </p:sp>
    </p:spTree>
    <p:extLst>
      <p:ext uri="{BB962C8B-B14F-4D97-AF65-F5344CB8AC3E}">
        <p14:creationId xmlns:p14="http://schemas.microsoft.com/office/powerpoint/2010/main" val="14660620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2026-10-14T19:39:50.6760000Z</dcterms:created>
  <dcterms:modified xsi:type="dcterms:W3CDTF">2026-10-14T19:39:50.6770000Z</dcterms:modified>
</coreProperties>
</file>